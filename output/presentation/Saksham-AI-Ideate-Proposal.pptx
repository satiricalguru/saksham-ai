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59d4d347b664ceb" /><Relationship Type="http://schemas.openxmlformats.org/officeDocument/2006/relationships/extended-properties" Target="/docProps/app.xml" Id="R891aab9704694d61" /><Relationship Type="http://schemas.openxmlformats.org/officeDocument/2006/relationships/officeDocument" Target="/ppt/presentation.xml" Id="Rd8517022ab1e4e25" /></Relationships>
</file>

<file path=ppt/presentation.xml><?xml version="1.0" encoding="utf-8"?>
<p:presentation xmlns:p="http://schemas.openxmlformats.org/presentationml/2006/main">
  <p:sldMasterIdLst>
    <p:sldMasterId xmlns:r="http://schemas.openxmlformats.org/officeDocument/2006/relationships" id="2147483648" r:id="Rb44e4468b50c4260"/>
  </p:sldMasterIdLst>
  <p:notesMasterIdLst>
    <p:notesMasterId xmlns:r="http://schemas.openxmlformats.org/officeDocument/2006/relationships" r:id="Rd224e66ec7f74763"/>
  </p:notesMasterIdLst>
  <p:sldIdLst>
    <p:sldId xmlns:r="http://schemas.openxmlformats.org/officeDocument/2006/relationships" id="256" r:id="Ra97d8e46de9146c4"/>
    <p:sldId xmlns:r="http://schemas.openxmlformats.org/officeDocument/2006/relationships" id="257" r:id="Ra054d1ed1ed1424c"/>
    <p:sldId xmlns:r="http://schemas.openxmlformats.org/officeDocument/2006/relationships" id="258" r:id="R4b7bc4b66e35466a"/>
    <p:sldId xmlns:r="http://schemas.openxmlformats.org/officeDocument/2006/relationships" id="259" r:id="R8e8f50c7afbe4bca"/>
    <p:sldId xmlns:r="http://schemas.openxmlformats.org/officeDocument/2006/relationships" id="260" r:id="Rc5cda0a9cae14f56"/>
    <p:sldId xmlns:r="http://schemas.openxmlformats.org/officeDocument/2006/relationships" id="261" r:id="Ra86f4755c8f649e7"/>
    <p:sldId xmlns:r="http://schemas.openxmlformats.org/officeDocument/2006/relationships" id="262" r:id="R43d3cc14562e4f3e"/>
    <p:sldId xmlns:r="http://schemas.openxmlformats.org/officeDocument/2006/relationships" id="263" r:id="R8623ab93124c454a"/>
    <p:sldId xmlns:r="http://schemas.openxmlformats.org/officeDocument/2006/relationships" id="264" r:id="R59157cfe9a084cf7"/>
    <p:sldId xmlns:r="http://schemas.openxmlformats.org/officeDocument/2006/relationships" id="265" r:id="R2cc78398ab3a44f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bf9f47c04264455" /><Relationship Type="http://schemas.openxmlformats.org/officeDocument/2006/relationships/slideMaster" Target="/ppt/slideMasters/slideMaster1.xml" Id="Rb44e4468b50c4260" /><Relationship Type="http://schemas.openxmlformats.org/officeDocument/2006/relationships/notesMaster" Target="/ppt/notesMasters/notesMaster1.xml" Id="Rd224e66ec7f74763" /><Relationship Type="http://schemas.openxmlformats.org/officeDocument/2006/relationships/presProps" Target="/ppt/presProps.xml" Id="Rd94189f396714f4a" /><Relationship Type="http://schemas.openxmlformats.org/officeDocument/2006/relationships/tableStyles" Target="/ppt/tableStyles.xml" Id="R325d1f18c1424f29" /><Relationship Type="http://schemas.openxmlformats.org/officeDocument/2006/relationships/slide" Target="/ppt/slides/slide1.xml" Id="Ra97d8e46de9146c4" /><Relationship Type="http://schemas.openxmlformats.org/officeDocument/2006/relationships/slide" Target="/ppt/slides/slide2.xml" Id="Ra054d1ed1ed1424c" /><Relationship Type="http://schemas.openxmlformats.org/officeDocument/2006/relationships/slide" Target="/ppt/slides/slide3.xml" Id="R4b7bc4b66e35466a" /><Relationship Type="http://schemas.openxmlformats.org/officeDocument/2006/relationships/slide" Target="/ppt/slides/slide4.xml" Id="R8e8f50c7afbe4bca" /><Relationship Type="http://schemas.openxmlformats.org/officeDocument/2006/relationships/slide" Target="/ppt/slides/slide5.xml" Id="Rc5cda0a9cae14f56" /><Relationship Type="http://schemas.openxmlformats.org/officeDocument/2006/relationships/slide" Target="/ppt/slides/slide6.xml" Id="Ra86f4755c8f649e7" /><Relationship Type="http://schemas.openxmlformats.org/officeDocument/2006/relationships/slide" Target="/ppt/slides/slide7.xml" Id="R43d3cc14562e4f3e" /><Relationship Type="http://schemas.openxmlformats.org/officeDocument/2006/relationships/slide" Target="/ppt/slides/slide8.xml" Id="R8623ab93124c454a" /><Relationship Type="http://schemas.openxmlformats.org/officeDocument/2006/relationships/slide" Target="/ppt/slides/slide9.xml" Id="R59157cfe9a084cf7" /><Relationship Type="http://schemas.openxmlformats.org/officeDocument/2006/relationships/slide" Target="/ppt/slides/slide10.xml" Id="R2cc78398ab3a44f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1225f566abc450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93574950ed7424c" /><Relationship Type="http://schemas.openxmlformats.org/officeDocument/2006/relationships/notesMaster" Target="/ppt/notesMasters/notesMaster1.xml" Id="Rd11c185130704d04" /></Relationships>
</file>

<file path=ppt/notesSlides/_rels/notesSlide2.xml.rels>&#65279;<?xml version="1.0" encoding="utf-8"?><Relationships xmlns="http://schemas.openxmlformats.org/package/2006/relationships"><Relationship Type="http://schemas.openxmlformats.org/officeDocument/2006/relationships/slide" Target="/ppt/slides/slide2.xml" Id="R41ecf4b3af7444ae" /><Relationship Type="http://schemas.openxmlformats.org/officeDocument/2006/relationships/notesMaster" Target="/ppt/notesMasters/notesMaster1.xml" Id="R0c47f33a6ddf49b4" /></Relationships>
</file>

<file path=ppt/notesSlides/_rels/notesSlide3.xml.rels>&#65279;<?xml version="1.0" encoding="utf-8"?><Relationships xmlns="http://schemas.openxmlformats.org/package/2006/relationships"><Relationship Type="http://schemas.openxmlformats.org/officeDocument/2006/relationships/slide" Target="/ppt/slides/slide3.xml" Id="R45eac31c29be44db" /><Relationship Type="http://schemas.openxmlformats.org/officeDocument/2006/relationships/notesMaster" Target="/ppt/notesMasters/notesMaster1.xml" Id="R48e8c79f21a14597" /></Relationships>
</file>

<file path=ppt/notesSlides/_rels/notesSlide4.xml.rels>&#65279;<?xml version="1.0" encoding="utf-8"?><Relationships xmlns="http://schemas.openxmlformats.org/package/2006/relationships"><Relationship Type="http://schemas.openxmlformats.org/officeDocument/2006/relationships/slide" Target="/ppt/slides/slide4.xml" Id="Rca976cd049d24e15" /><Relationship Type="http://schemas.openxmlformats.org/officeDocument/2006/relationships/notesMaster" Target="/ppt/notesMasters/notesMaster1.xml" Id="Re74f47fb60204edb" /></Relationships>
</file>

<file path=ppt/notesSlides/_rels/notesSlide5.xml.rels>&#65279;<?xml version="1.0" encoding="utf-8"?><Relationships xmlns="http://schemas.openxmlformats.org/package/2006/relationships"><Relationship Type="http://schemas.openxmlformats.org/officeDocument/2006/relationships/slide" Target="/ppt/slides/slide5.xml" Id="R593ade8ff4b74737" /><Relationship Type="http://schemas.openxmlformats.org/officeDocument/2006/relationships/notesMaster" Target="/ppt/notesMasters/notesMaster1.xml" Id="R594523ebcfe54843" /></Relationships>
</file>

<file path=ppt/notesSlides/_rels/notesSlide6.xml.rels>&#65279;<?xml version="1.0" encoding="utf-8"?><Relationships xmlns="http://schemas.openxmlformats.org/package/2006/relationships"><Relationship Type="http://schemas.openxmlformats.org/officeDocument/2006/relationships/slide" Target="/ppt/slides/slide6.xml" Id="R1d72acc61b0d4bf5" /><Relationship Type="http://schemas.openxmlformats.org/officeDocument/2006/relationships/notesMaster" Target="/ppt/notesMasters/notesMaster1.xml" Id="R225eb030e8854974" /></Relationships>
</file>

<file path=ppt/notesSlides/_rels/notesSlide7.xml.rels>&#65279;<?xml version="1.0" encoding="utf-8"?><Relationships xmlns="http://schemas.openxmlformats.org/package/2006/relationships"><Relationship Type="http://schemas.openxmlformats.org/officeDocument/2006/relationships/slide" Target="/ppt/slides/slide7.xml" Id="R92cd3e498f03489b" /><Relationship Type="http://schemas.openxmlformats.org/officeDocument/2006/relationships/notesMaster" Target="/ppt/notesMasters/notesMaster1.xml" Id="Rfb0321b9d6ec4e01" /></Relationships>
</file>

<file path=ppt/notesSlides/_rels/notesSlide8.xml.rels>&#65279;<?xml version="1.0" encoding="utf-8"?><Relationships xmlns="http://schemas.openxmlformats.org/package/2006/relationships"><Relationship Type="http://schemas.openxmlformats.org/officeDocument/2006/relationships/slide" Target="/ppt/slides/slide8.xml" Id="R42743303427a47ba" /><Relationship Type="http://schemas.openxmlformats.org/officeDocument/2006/relationships/notesMaster" Target="/ppt/notesMasters/notesMaster1.xml" Id="R601b7f7143204d20" /></Relationships>
</file>

<file path=ppt/notesSlides/_rels/notesSlide9.xml.rels>&#65279;<?xml version="1.0" encoding="utf-8"?><Relationships xmlns="http://schemas.openxmlformats.org/package/2006/relationships"><Relationship Type="http://schemas.openxmlformats.org/officeDocument/2006/relationships/slide" Target="/ppt/slides/slide9.xml" Id="R82d97fee62b845bf" /><Relationship Type="http://schemas.openxmlformats.org/officeDocument/2006/relationships/notesMaster" Target="/ppt/notesMasters/notesMaster1.xml" Id="R447ecedb184d429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62dcd082c8e44e8" /><Relationship Type="http://schemas.openxmlformats.org/officeDocument/2006/relationships/notesMaster" Target="/ppt/notesMasters/notesMaster1.xml" Id="R421c81028c95424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Ideate-stage proposal. Nine content slides follow this cover. Working name: Saksham AI. The cover is an AI-generated editorial illustration, not a photograph of a real school or pilot. No claim of government endorsement. Team profiles are omitted because member details have not been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source: https://niti.gov.in/sites/default/files/2026-05/School-Education-System-in-India.pdf printed pp. 151–152 (PDF pp. 177–178). The report recommends stronger CRP mentoring, revised workloads and digital visit records. It is a research report, not an endorsement of Saksham. Coaching design source: https://blogs.worldbank.org/en/education/7-steps-facilitate-effective-one-one-support-teachers. The chosen post-observation bottleneck is our product hypothesis. No CRP interviews or impact results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screenshot of the working local prototype, captured in explicitly labelled demo mode. The seeded Grade 2 subtraction observations are fictional. Notes map to exact excerpts. The proposed live version uses Claude for contextual interpretation and recommendation generation. A resource citation does not prove that the model’s recommendation is pedagogically correct. Mentor and expert review remain necessary.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from the local scripted demonstration. The proposed frontier-model capability is adaptive role-play conditioned on the current observation, with qualitative feedback on the mentor’s wording. The screenshot does not demonstrate validated AI scoring. No numeric coaching-quality scores are claimed. Existing simulation systems such as Mursion show that rehearsal itself is not novel; our intended differentiation is its connection to a CRP’s actual FLN observation and follow-up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Design persona and constraints are assumptions for validation, not field-research findings. Intended primary user: Cluster Resource Person / Academic Resource Person / teacher mentor. Current prototype has partial Hindi UI and demo output, English/Hindi browser speech selection, typed note capture, and browser-local persistence. Browser speech may use a remote service and is not guaranteed offline. Planned second Indian language will depend on pilot context. Device storage is not a production multi-user database.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Workflow design, not an observed pilot journey. The teacher tries a whole-class slate response after a worked subtraction example. The mentor co-plans the task and returns to observe response participation and the teacher’s use of evidence. A completed visit is not evidence of improvement. Follow-ups are tracked in the local prototype; automatic reminders and system integrations are not 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accessed 19 September 2026: TeachFX https://teachfx.com/blog/tips-for-instructional-leaders; Mursion https://www.mursion.com/solutions/education/; NCERT NISHTHA https://ciet.ncert.gov.in/NISHTHA_Courses. TeachFX supports classroom audio analysis and coaching discussions. Mursion supports educator conversation simulation. DIKSHA/NISHTHA provides professional learning. We make no claim that these products lack all overlapping capabilities. Saksham’s context-specific combination is a hypothesis to test, not proof of first-in-market novelty or superior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NCERT source: https://ncert.nic.in/pdf/focus-group/NCF-FS_2022EN.pdf section 6.2.1 printed pp. 177–178. It describes planned observation, recording concrete evidence, and reflection to inform teaching. Saksham’s slate-response activity is an adaptation, not a direct NCERT prescription. Exact quote matching and valid resource IDs are machine-checkable. Relevance, unsupported inference and instructional suitability require additional model checks, evaluation and human judgement. Do not rank teachers or infer capability, motivation or child diagnoses. Capture mentor notes without child-identifying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proposal. The local prototype currently uses React/Next.js, browser-local storage, Zod schemas, exact evidence-substring verification and curated resource summaries. A server-side Anthropic Messages route exists, but successful live-provider operation was not established in this session. Retrieval and PostgreSQL/pgvector are planned. NCF reference: https://ncert.nic.in/pdf/focus-group/NCF-FS_2022EN.pdf. Before indexing any material, verify licence/permission, version, section and language. Exclude identifying child information and establish consent, retention and access controls before any pilot. No child audio corpus or fine-tuning is needed for this MVP. No automatic teacher ranking. Live AI requires connectivity; a model failure must preserve notes and return a recoverable error.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Evaluation plan only. Forty fictional/de-identified expert-reviewed scenarios should cover sparse evidence, contradictory notes, negation, Hindi/code-switching and attempts to elicit punitive judgements. Separate development cases from a held-out set. Define supported claims and use two expert reviewers for disagreements. Compare with an ungrounded LLM baseline. The proposed field sample is small and for usability/formative learning, not causal evidence of student impact. Time target measures the reviewed plan, not the classroom observation or teacher conversation. Proposed milestone dates follow the supplied hackathon guidelines. Current status: demo capture, evidence view, scripted rehearsal, commitments and reload persistence tested. Live Claude, expert endorsement, full Hindi localisation, secure multi-user deployment and offline reload resilience still require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464f70a969047f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a38b6bb176c4562" /><Relationship Type="http://schemas.openxmlformats.org/officeDocument/2006/relationships/slideLayout" Target="/ppt/slideLayouts/slideLayout1.xml" Id="R744ff0b7cc474ac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44ff0b7cc474ac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667c10c755a42fa" /><Relationship Type="http://schemas.openxmlformats.org/officeDocument/2006/relationships/image" Target="/ppt/media/image.png" Id="R1810a220400f414d" /><Relationship Type="http://schemas.openxmlformats.org/officeDocument/2006/relationships/notesSlide" Target="/ppt/notesSlides/notesSlide1.xml" Id="Rffe2426d150a487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1ed964c0f2c4249" /><Relationship Type="http://schemas.openxmlformats.org/officeDocument/2006/relationships/notesSlide" Target="/ppt/notesSlides/notesSlide2.xml" Id="R23eece8061a2453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acfc466bc884acb" /><Relationship Type="http://schemas.openxmlformats.org/officeDocument/2006/relationships/image" Target="/ppt/media/image2.png" Id="R663dad8622e649fe" /><Relationship Type="http://schemas.openxmlformats.org/officeDocument/2006/relationships/notesSlide" Target="/ppt/notesSlides/notesSlide3.xml" Id="R10b5252c3e2f4d0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53092e0fd054f6f" /><Relationship Type="http://schemas.openxmlformats.org/officeDocument/2006/relationships/image" Target="/ppt/media/image3.png" Id="R0702b1fbe77c4441" /><Relationship Type="http://schemas.openxmlformats.org/officeDocument/2006/relationships/notesSlide" Target="/ppt/notesSlides/notesSlide4.xml" Id="R39b3941e17d24a0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ebb6541599f44a2" /><Relationship Type="http://schemas.openxmlformats.org/officeDocument/2006/relationships/image" Target="/ppt/media/image4.png" Id="Rbee4839ce32b4c4f" /><Relationship Type="http://schemas.openxmlformats.org/officeDocument/2006/relationships/notesSlide" Target="/ppt/notesSlides/notesSlide5.xml" Id="R4675ec2d701441e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cfeec3e9b58445e" /><Relationship Type="http://schemas.openxmlformats.org/officeDocument/2006/relationships/notesSlide" Target="/ppt/notesSlides/notesSlide6.xml" Id="R74ac05103fb74c5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cd17c2b8a2244bc" /><Relationship Type="http://schemas.openxmlformats.org/officeDocument/2006/relationships/notesSlide" Target="/ppt/notesSlides/notesSlide7.xml" Id="Ra07999ceb9cc447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089843f2f2f463b" /><Relationship Type="http://schemas.openxmlformats.org/officeDocument/2006/relationships/image" Target="/ppt/media/image5.png" Id="R679d9412b91c4a4e" /><Relationship Type="http://schemas.openxmlformats.org/officeDocument/2006/relationships/notesSlide" Target="/ppt/notesSlides/notesSlide8.xml" Id="R1189c18d43f741a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bdfd693f0f14bd9" /><Relationship Type="http://schemas.openxmlformats.org/officeDocument/2006/relationships/notesSlide" Target="/ppt/notesSlides/notesSlide9.xml" Id="Rd38197ab22b64ad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a8055e7219049f6" /><Relationship Type="http://schemas.openxmlformats.org/officeDocument/2006/relationships/notesSlide" Target="/ppt/notesSlides/notesSlide10.xml" Id="Ra4324e96efd44cd1" /></Relationships>
</file>

<file path=ppt/slides/slide1.xml><?xml version="1.0" encoding="utf-8"?>
<p:sld xmlns:p="http://schemas.openxmlformats.org/presentationml/2006/main">
  <p:cSld>
    <p:bg>
      <p:bgPr>
        <a:solidFill xmlns:a="http://schemas.openxmlformats.org/drawingml/2006/main">
          <a:srgbClr val="173F3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810a220400f414d"/>
          <a:srcRect xmlns:a="http://schemas.openxmlformats.org/drawingml/2006/main" l="538" t="0" r="538" b="0"/>
          <a:stretch xmlns:a="http://schemas.openxmlformats.org/drawingml/2006/main">
            <a:fillRect l="0" t="0" r="0" b="0"/>
          </a:stretch>
        </p:blipFill>
        <p:spPr>
          <a:xfrm xmlns:a="http://schemas.openxmlformats.org/drawingml/2006/main">
            <a:off x="6762750" y="0"/>
            <a:ext cx="5429250" cy="6858000"/>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C769BD8A-2E9E-49EA-AC3A-BAD684C71170}"/>
              </a:ext>
            </a:extLst>
          </p:cNvPr>
          <p:cNvSpPr>
            <a:spLocks xmlns:a="http://schemas.openxmlformats.org/drawingml/2006/main" noGrp="1"/>
          </p:cNvSpPr>
          <p:nvPr/>
        </p:nvSpPr>
        <p:spPr>
          <a:xfrm xmlns:a="http://schemas.openxmlformats.org/drawingml/2006/main">
            <a:off x="609600" y="542925"/>
            <a:ext cx="552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75" b="1">
                <a:solidFill>
                  <a:srgbClr val="D5E9AC"/>
                </a:solidFill>
                <a:latin typeface="Avenir Next"/>
                <a:ea typeface="Avenir Next"/>
                <a:cs typeface="Avenir Next"/>
              </a:defRPr>
            </a:pPr>
            <a:r>
              <a:rPr sz="975" b="1">
                <a:solidFill>
                  <a:srgbClr val="D5E9AC"/>
                </a:solidFill>
                <a:latin typeface="Avenir Next"/>
                <a:ea typeface="Avenir Next"/>
                <a:cs typeface="Avenir Next"/>
              </a:rPr>
              <a:t>AI FOR FOUNDATIONAL LEARNING HACKATHON</a:t>
            </a:r>
          </a:p>
        </p:txBody>
      </p:sp>
      <p:sp>
        <p:nvSpPr>
          <p:cNvPr id="3" name="text-2">
            <a:extLst xmlns:a="http://schemas.openxmlformats.org/drawingml/2006/main">
              <a:ext uri="{FF2B5EF4-FFF2-40B4-BE49-F238E27FC236}">
                <a16:creationId xmlns:a16="http://schemas.microsoft.com/office/drawing/2014/main" id="{1E953134-AF56-45DC-A5F6-FF8994068AD9}"/>
              </a:ext>
            </a:extLst>
          </p:cNvPr>
          <p:cNvSpPr>
            <a:spLocks xmlns:a="http://schemas.openxmlformats.org/drawingml/2006/main" noGrp="1"/>
          </p:cNvSpPr>
          <p:nvPr/>
        </p:nvSpPr>
        <p:spPr>
          <a:xfrm xmlns:a="http://schemas.openxmlformats.org/drawingml/2006/main">
            <a:off x="581025" y="1533525"/>
            <a:ext cx="59055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850" b="1">
                <a:solidFill>
                  <a:srgbClr val="F7F5EF"/>
                </a:solidFill>
                <a:latin typeface="Avenir Next"/>
                <a:ea typeface="Avenir Next"/>
                <a:cs typeface="Avenir Next"/>
              </a:defRPr>
            </a:pPr>
            <a:r>
              <a:rPr sz="5850" b="1">
                <a:solidFill>
                  <a:srgbClr val="F7F5EF"/>
                </a:solidFill>
                <a:latin typeface="Avenir Next"/>
                <a:ea typeface="Avenir Next"/>
                <a:cs typeface="Avenir Next"/>
              </a:rPr>
              <a:t>Saksham AI</a:t>
            </a:r>
          </a:p>
        </p:txBody>
      </p:sp>
      <p:sp>
        <p:nvSpPr>
          <p:cNvPr id="4" name="text-3">
            <a:extLst xmlns:a="http://schemas.openxmlformats.org/drawingml/2006/main">
              <a:ext uri="{FF2B5EF4-FFF2-40B4-BE49-F238E27FC236}">
                <a16:creationId xmlns:a16="http://schemas.microsoft.com/office/drawing/2014/main" id="{FA7C973D-1E57-4EBE-9448-2565FC27ADE4}"/>
              </a:ext>
            </a:extLst>
          </p:cNvPr>
          <p:cNvSpPr>
            <a:spLocks xmlns:a="http://schemas.openxmlformats.org/drawingml/2006/main" noGrp="1"/>
          </p:cNvSpPr>
          <p:nvPr/>
        </p:nvSpPr>
        <p:spPr>
          <a:xfrm xmlns:a="http://schemas.openxmlformats.org/drawingml/2006/main">
            <a:off x="609600" y="2752725"/>
            <a:ext cx="5495925"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0">
                <a:solidFill>
                  <a:srgbClr val="D5E9AC"/>
                </a:solidFill>
                <a:latin typeface="Avenir Next"/>
                <a:ea typeface="Avenir Next"/>
                <a:cs typeface="Avenir Next"/>
              </a:defRPr>
            </a:pPr>
            <a:r>
              <a:rPr sz="3300" b="0">
                <a:solidFill>
                  <a:srgbClr val="D5E9AC"/>
                </a:solidFill>
                <a:latin typeface="Avenir Next"/>
                <a:ea typeface="Avenir Next"/>
                <a:cs typeface="Avenir Next"/>
              </a:rPr>
              <a:t>A field coach for</a:t>
            </a:r>
          </a:p>
          <a:p xmlns:a="http://schemas.openxmlformats.org/drawingml/2006/main">
            <a:pPr algn="l">
              <a:defRPr sz="3300" b="0">
                <a:solidFill>
                  <a:srgbClr val="D5E9AC"/>
                </a:solidFill>
                <a:latin typeface="Avenir Next"/>
                <a:ea typeface="Avenir Next"/>
                <a:cs typeface="Avenir Next"/>
              </a:defRPr>
            </a:pPr>
            <a:r>
              <a:rPr sz="3300" b="0">
                <a:solidFill>
                  <a:srgbClr val="D5E9AC"/>
                </a:solidFill>
                <a:latin typeface="Avenir Next"/>
                <a:ea typeface="Avenir Next"/>
                <a:cs typeface="Avenir Next"/>
              </a:rPr>
              <a:t>India’s teacher mentors</a:t>
            </a:r>
          </a:p>
        </p:txBody>
      </p:sp>
      <p:sp>
        <p:nvSpPr>
          <p:cNvPr id="5" name="text-4">
            <a:extLst xmlns:a="http://schemas.openxmlformats.org/drawingml/2006/main">
              <a:ext uri="{FF2B5EF4-FFF2-40B4-BE49-F238E27FC236}">
                <a16:creationId xmlns:a16="http://schemas.microsoft.com/office/drawing/2014/main" id="{BD3978F5-04CE-4DB2-B75A-475D5E11E828}"/>
              </a:ext>
            </a:extLst>
          </p:cNvPr>
          <p:cNvSpPr>
            <a:spLocks xmlns:a="http://schemas.openxmlformats.org/drawingml/2006/main" noGrp="1"/>
          </p:cNvSpPr>
          <p:nvPr/>
        </p:nvSpPr>
        <p:spPr>
          <a:xfrm xmlns:a="http://schemas.openxmlformats.org/drawingml/2006/main">
            <a:off x="609600" y="4543425"/>
            <a:ext cx="55054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C5D3C2"/>
                </a:solidFill>
                <a:latin typeface="Avenir Next"/>
                <a:ea typeface="Avenir Next"/>
                <a:cs typeface="Avenir Next"/>
              </a:defRPr>
            </a:pPr>
            <a:r>
              <a:rPr sz="1800" b="0">
                <a:solidFill>
                  <a:srgbClr val="C5D3C2"/>
                </a:solidFill>
                <a:latin typeface="Avenir Next"/>
                <a:ea typeface="Avenir Next"/>
                <a:cs typeface="Avenir Next"/>
              </a:rPr>
              <a:t>Classroom evidence. Better conversations.</a:t>
            </a:r>
          </a:p>
          <a:p xmlns:a="http://schemas.openxmlformats.org/drawingml/2006/main">
            <a:pPr algn="l">
              <a:defRPr sz="1800" b="0">
                <a:solidFill>
                  <a:srgbClr val="C5D3C2"/>
                </a:solidFill>
                <a:latin typeface="Avenir Next"/>
                <a:ea typeface="Avenir Next"/>
                <a:cs typeface="Avenir Next"/>
              </a:defRPr>
            </a:pPr>
            <a:r>
              <a:rPr sz="1800" b="0">
                <a:solidFill>
                  <a:srgbClr val="C5D3C2"/>
                </a:solidFill>
                <a:latin typeface="Avenir Next"/>
                <a:ea typeface="Avenir Next"/>
                <a:cs typeface="Avenir Next"/>
              </a:rPr>
              <a:t>A clear next step for every visit.</a:t>
            </a:r>
          </a:p>
        </p:txBody>
      </p:sp>
      <p:sp>
        <p:nvSpPr>
          <p:cNvPr id="6" name="text-5">
            <a:extLst xmlns:a="http://schemas.openxmlformats.org/drawingml/2006/main">
              <a:ext uri="{FF2B5EF4-FFF2-40B4-BE49-F238E27FC236}">
                <a16:creationId xmlns:a16="http://schemas.microsoft.com/office/drawing/2014/main" id="{91CF3B56-7862-4CDA-8BFC-A46FE7D8039D}"/>
              </a:ext>
            </a:extLst>
          </p:cNvPr>
          <p:cNvSpPr>
            <a:spLocks xmlns:a="http://schemas.openxmlformats.org/drawingml/2006/main" noGrp="1"/>
          </p:cNvSpPr>
          <p:nvPr/>
        </p:nvSpPr>
        <p:spPr>
          <a:xfrm xmlns:a="http://schemas.openxmlformats.org/drawingml/2006/main">
            <a:off x="609600" y="6200775"/>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ADBFAC"/>
                </a:solidFill>
                <a:latin typeface="Avenir Next"/>
                <a:ea typeface="Avenir Next"/>
                <a:cs typeface="Avenir Next"/>
              </a:defRPr>
            </a:pPr>
            <a:r>
              <a:rPr sz="1050" b="1">
                <a:solidFill>
                  <a:srgbClr val="ADBFAC"/>
                </a:solidFill>
                <a:latin typeface="Avenir Next"/>
                <a:ea typeface="Avenir Next"/>
                <a:cs typeface="Avenir Next"/>
              </a:rPr>
              <a:t>CHALLENGE 5: SYSTEM CAPACITY</a:t>
            </a:r>
          </a:p>
        </p:txBody>
      </p:sp>
    </p:spTree>
    <p:extLst>
      <p:ext uri="{BB962C8B-B14F-4D97-AF65-F5344CB8AC3E}">
        <p14:creationId xmlns:p14="http://schemas.microsoft.com/office/powerpoint/2010/main" val="62209471"/>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text-6">
            <a:extLst xmlns:a="http://schemas.openxmlformats.org/drawingml/2006/main">
              <a:ext uri="{FF2B5EF4-FFF2-40B4-BE49-F238E27FC236}">
                <a16:creationId xmlns:a16="http://schemas.microsoft.com/office/drawing/2014/main" id="{9B4B48B1-A64F-463B-863B-0450BA6DE74D}"/>
              </a:ext>
            </a:extLst>
          </p:cNvPr>
          <p:cNvSpPr>
            <a:spLocks xmlns:a="http://schemas.openxmlformats.org/drawingml/2006/main" noGrp="1"/>
          </p:cNvSpPr>
          <p:nvPr/>
        </p:nvSpPr>
        <p:spPr>
          <a:xfrm xmlns:a="http://schemas.openxmlformats.org/drawingml/2006/main">
            <a:off x="609600" y="35242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75" b="1">
                <a:solidFill>
                  <a:srgbClr val="BE653F"/>
                </a:solidFill>
                <a:latin typeface="Avenir Next"/>
                <a:ea typeface="Avenir Next"/>
                <a:cs typeface="Avenir Next"/>
              </a:defRPr>
            </a:pPr>
            <a:r>
              <a:rPr sz="975" b="1">
                <a:solidFill>
                  <a:srgbClr val="BE653F"/>
                </a:solidFill>
                <a:latin typeface="Avenir Next"/>
                <a:ea typeface="Avenir Next"/>
                <a:cs typeface="Avenir Next"/>
              </a:rPr>
              <a:t>01 / PROBLEM UNDERSTANDING</a:t>
            </a:r>
          </a:p>
        </p:txBody>
      </p:sp>
      <p:sp>
        <p:nvSpPr>
          <p:cNvPr id="2" name="text-7">
            <a:extLst xmlns:a="http://schemas.openxmlformats.org/drawingml/2006/main">
              <a:ext uri="{FF2B5EF4-FFF2-40B4-BE49-F238E27FC236}">
                <a16:creationId xmlns:a16="http://schemas.microsoft.com/office/drawing/2014/main" id="{8A342BED-C4A6-4F6C-8067-30344228E04B}"/>
              </a:ext>
            </a:extLst>
          </p:cNvPr>
          <p:cNvSpPr>
            <a:spLocks xmlns:a="http://schemas.openxmlformats.org/drawingml/2006/main" noGrp="1"/>
          </p:cNvSpPr>
          <p:nvPr/>
        </p:nvSpPr>
        <p:spPr>
          <a:xfrm xmlns:a="http://schemas.openxmlformats.org/drawingml/2006/main">
            <a:off x="609600" y="800100"/>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75" b="1">
                <a:solidFill>
                  <a:srgbClr val="173F36"/>
                </a:solidFill>
                <a:latin typeface="Avenir Next"/>
                <a:ea typeface="Avenir Next"/>
                <a:cs typeface="Avenir Next"/>
              </a:defRPr>
            </a:pPr>
            <a:r>
              <a:rPr sz="3375" b="1">
                <a:solidFill>
                  <a:srgbClr val="173F36"/>
                </a:solidFill>
                <a:latin typeface="Avenir Next"/>
                <a:ea typeface="Avenir Next"/>
                <a:cs typeface="Avenir Next"/>
              </a:rPr>
              <a:t>The mentoring gap between a visit and a change</a:t>
            </a:r>
          </a:p>
        </p:txBody>
      </p:sp>
      <p:sp>
        <p:nvSpPr>
          <p:cNvPr id="3" name="text-8">
            <a:extLst xmlns:a="http://schemas.openxmlformats.org/drawingml/2006/main">
              <a:ext uri="{FF2B5EF4-FFF2-40B4-BE49-F238E27FC236}">
                <a16:creationId xmlns:a16="http://schemas.microsoft.com/office/drawing/2014/main" id="{E67E665F-99BC-4569-AC1F-2DE5AF499D41}"/>
              </a:ext>
            </a:extLst>
          </p:cNvPr>
          <p:cNvSpPr>
            <a:spLocks xmlns:a="http://schemas.openxmlformats.org/drawingml/2006/main" noGrp="1"/>
          </p:cNvSpPr>
          <p:nvPr/>
        </p:nvSpPr>
        <p:spPr>
          <a:xfrm xmlns:a="http://schemas.openxmlformats.org/drawingml/2006/main">
            <a:off x="609600" y="6448425"/>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825" b="1">
                <a:solidFill>
                  <a:srgbClr val="84917F"/>
                </a:solidFill>
                <a:latin typeface="Avenir Next"/>
                <a:ea typeface="Avenir Next"/>
                <a:cs typeface="Avenir Next"/>
              </a:defRPr>
            </a:pPr>
            <a:r>
              <a:rPr sz="825" b="1">
                <a:solidFill>
                  <a:srgbClr val="84917F"/>
                </a:solidFill>
                <a:latin typeface="Avenir Next"/>
                <a:ea typeface="Avenir Next"/>
                <a:cs typeface="Avenir Next"/>
              </a:rPr>
              <a:t>SAKSHAM AI</a:t>
            </a:r>
          </a:p>
        </p:txBody>
      </p:sp>
      <p:sp>
        <p:nvSpPr>
          <p:cNvPr id="4" name="text-9">
            <a:extLst xmlns:a="http://schemas.openxmlformats.org/drawingml/2006/main">
              <a:ext uri="{FF2B5EF4-FFF2-40B4-BE49-F238E27FC236}">
                <a16:creationId xmlns:a16="http://schemas.microsoft.com/office/drawing/2014/main" id="{9035DC4C-F708-45C9-A73C-E1DA91031720}"/>
              </a:ext>
            </a:extLst>
          </p:cNvPr>
          <p:cNvSpPr>
            <a:spLocks xmlns:a="http://schemas.openxmlformats.org/drawingml/2006/main" noGrp="1"/>
          </p:cNvSpPr>
          <p:nvPr/>
        </p:nvSpPr>
        <p:spPr>
          <a:xfrm xmlns:a="http://schemas.openxmlformats.org/drawingml/2006/main">
            <a:off x="11239500" y="6438900"/>
            <a:ext cx="3429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00" b="0">
                <a:solidFill>
                  <a:srgbClr val="84917F"/>
                </a:solidFill>
                <a:latin typeface="Avenir Next"/>
                <a:ea typeface="Avenir Next"/>
                <a:cs typeface="Avenir Next"/>
              </a:defRPr>
            </a:pPr>
            <a:r>
              <a:rPr sz="900" b="0">
                <a:solidFill>
                  <a:srgbClr val="84917F"/>
                </a:solidFill>
                <a:latin typeface="Avenir Next"/>
                <a:ea typeface="Avenir Next"/>
                <a:cs typeface="Avenir Next"/>
              </a:rPr>
              <a:t>01</a:t>
            </a:r>
          </a:p>
        </p:txBody>
      </p:sp>
      <p:sp>
        <p:nvSpPr>
          <p:cNvPr id="5" name="text-10">
            <a:extLst xmlns:a="http://schemas.openxmlformats.org/drawingml/2006/main">
              <a:ext uri="{FF2B5EF4-FFF2-40B4-BE49-F238E27FC236}">
                <a16:creationId xmlns:a16="http://schemas.microsoft.com/office/drawing/2014/main" id="{3072A56B-F513-487D-ABFA-A6E5F3227AD3}"/>
              </a:ext>
            </a:extLst>
          </p:cNvPr>
          <p:cNvSpPr>
            <a:spLocks xmlns:a="http://schemas.openxmlformats.org/drawingml/2006/main" noGrp="1"/>
          </p:cNvSpPr>
          <p:nvPr/>
        </p:nvSpPr>
        <p:spPr>
          <a:xfrm xmlns:a="http://schemas.openxmlformats.org/drawingml/2006/main">
            <a:off x="2266950" y="6429375"/>
            <a:ext cx="8743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825" b="0">
                <a:solidFill>
                  <a:srgbClr val="7B8675"/>
                </a:solidFill>
                <a:latin typeface="Avenir Next"/>
                <a:ea typeface="Avenir Next"/>
                <a:cs typeface="Avenir Next"/>
              </a:defRPr>
            </a:pPr>
            <a:r>
              <a:rPr sz="825" b="0">
                <a:solidFill>
                  <a:srgbClr val="7B8675"/>
                </a:solidFill>
                <a:latin typeface="Avenir Next"/>
                <a:ea typeface="Avenir Next"/>
                <a:cs typeface="Avenir Next"/>
              </a:rPr>
              <a:t>Sources: NITI Aayog, School Education System in India (2026), pp. 151–152; World Bank Coach (2021).</a:t>
            </a:r>
          </a:p>
        </p:txBody>
      </p:sp>
      <p:sp>
        <p:nvSpPr>
          <p:cNvPr id="6" name="text-11">
            <a:extLst xmlns:a="http://schemas.openxmlformats.org/drawingml/2006/main">
              <a:ext uri="{FF2B5EF4-FFF2-40B4-BE49-F238E27FC236}">
                <a16:creationId xmlns:a16="http://schemas.microsoft.com/office/drawing/2014/main" id="{97ACC6A8-ABC7-4B30-A60C-0BEF0161CCAE}"/>
              </a:ext>
            </a:extLst>
          </p:cNvPr>
          <p:cNvSpPr>
            <a:spLocks xmlns:a="http://schemas.openxmlformats.org/drawingml/2006/main" noGrp="1"/>
          </p:cNvSpPr>
          <p:nvPr/>
        </p:nvSpPr>
        <p:spPr>
          <a:xfrm xmlns:a="http://schemas.openxmlformats.org/drawingml/2006/main">
            <a:off x="609600" y="2152650"/>
            <a:ext cx="50482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173F36"/>
                </a:solidFill>
                <a:latin typeface="Avenir Next"/>
                <a:ea typeface="Avenir Next"/>
                <a:cs typeface="Avenir Next"/>
              </a:defRPr>
            </a:pPr>
            <a:r>
              <a:rPr sz="2850" b="1">
                <a:solidFill>
                  <a:srgbClr val="173F36"/>
                </a:solidFill>
                <a:latin typeface="Avenir Next"/>
                <a:ea typeface="Avenir Next"/>
                <a:cs typeface="Avenir Next"/>
              </a:rPr>
              <a:t>CRPs are expected to</a:t>
            </a:r>
          </a:p>
          <a:p xmlns:a="http://schemas.openxmlformats.org/drawingml/2006/main">
            <a:pPr algn="l">
              <a:defRPr sz="2850" b="1">
                <a:solidFill>
                  <a:srgbClr val="173F36"/>
                </a:solidFill>
                <a:latin typeface="Avenir Next"/>
                <a:ea typeface="Avenir Next"/>
                <a:cs typeface="Avenir Next"/>
              </a:defRPr>
            </a:pPr>
            <a:r>
              <a:rPr sz="2850" b="1">
                <a:solidFill>
                  <a:srgbClr val="173F36"/>
                </a:solidFill>
                <a:latin typeface="Avenir Next"/>
                <a:ea typeface="Avenir Next"/>
                <a:cs typeface="Avenir Next"/>
              </a:rPr>
              <a:t>help teachers improve</a:t>
            </a:r>
          </a:p>
          <a:p xmlns:a="http://schemas.openxmlformats.org/drawingml/2006/main">
            <a:pPr algn="l">
              <a:defRPr sz="2850" b="1">
                <a:solidFill>
                  <a:srgbClr val="173F36"/>
                </a:solidFill>
                <a:latin typeface="Avenir Next"/>
                <a:ea typeface="Avenir Next"/>
                <a:cs typeface="Avenir Next"/>
              </a:defRPr>
            </a:pPr>
            <a:r>
              <a:rPr sz="2850" b="1">
                <a:solidFill>
                  <a:srgbClr val="173F36"/>
                </a:solidFill>
                <a:latin typeface="Avenir Next"/>
                <a:ea typeface="Avenir Next"/>
                <a:cs typeface="Avenir Next"/>
              </a:rPr>
              <a:t>classroom practice.</a:t>
            </a:r>
          </a:p>
        </p:txBody>
      </p:sp>
      <p:sp>
        <p:nvSpPr>
          <p:cNvPr id="7" name="text-12">
            <a:extLst xmlns:a="http://schemas.openxmlformats.org/drawingml/2006/main">
              <a:ext uri="{FF2B5EF4-FFF2-40B4-BE49-F238E27FC236}">
                <a16:creationId xmlns:a16="http://schemas.microsoft.com/office/drawing/2014/main" id="{9DAD0D56-5D41-4B38-BC6D-B2C2933E16D6}"/>
              </a:ext>
            </a:extLst>
          </p:cNvPr>
          <p:cNvSpPr>
            <a:spLocks xmlns:a="http://schemas.openxmlformats.org/drawingml/2006/main" noGrp="1"/>
          </p:cNvSpPr>
          <p:nvPr/>
        </p:nvSpPr>
        <p:spPr>
          <a:xfrm xmlns:a="http://schemas.openxmlformats.org/drawingml/2006/main">
            <a:off x="609600" y="4210050"/>
            <a:ext cx="4857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69776B"/>
                </a:solidFill>
                <a:latin typeface="Avenir Next"/>
                <a:ea typeface="Avenir Next"/>
                <a:cs typeface="Avenir Next"/>
              </a:defRPr>
            </a:pPr>
            <a:r>
              <a:rPr sz="1950" b="0">
                <a:solidFill>
                  <a:srgbClr val="69776B"/>
                </a:solidFill>
                <a:latin typeface="Avenir Next"/>
                <a:ea typeface="Avenir Next"/>
                <a:cs typeface="Avenir Next"/>
              </a:rPr>
              <a:t>Our focus is the moment after an observation: choosing useful feedback, discussing it well, and returning to the agreed practice.</a:t>
            </a:r>
          </a:p>
        </p:txBody>
      </p:sp>
      <p:sp>
        <p:nvSpPr>
          <p:cNvPr id="8" name="text-13">
            <a:extLst xmlns:a="http://schemas.openxmlformats.org/drawingml/2006/main">
              <a:ext uri="{FF2B5EF4-FFF2-40B4-BE49-F238E27FC236}">
                <a16:creationId xmlns:a16="http://schemas.microsoft.com/office/drawing/2014/main" id="{E09A3219-4E59-4CAE-B3E7-C34074B4B6EC}"/>
              </a:ext>
            </a:extLst>
          </p:cNvPr>
          <p:cNvSpPr>
            <a:spLocks xmlns:a="http://schemas.openxmlformats.org/drawingml/2006/main" noGrp="1"/>
          </p:cNvSpPr>
          <p:nvPr/>
        </p:nvSpPr>
        <p:spPr>
          <a:xfrm xmlns:a="http://schemas.openxmlformats.org/drawingml/2006/main">
            <a:off x="6477000" y="2143125"/>
            <a:ext cx="466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75" b="1">
                <a:solidFill>
                  <a:srgbClr val="BE653F"/>
                </a:solidFill>
                <a:latin typeface="Avenir Next"/>
                <a:ea typeface="Avenir Next"/>
                <a:cs typeface="Avenir Next"/>
              </a:defRPr>
            </a:pPr>
            <a:r>
              <a:rPr sz="975" b="1">
                <a:solidFill>
                  <a:srgbClr val="BE653F"/>
                </a:solidFill>
                <a:latin typeface="Avenir Next"/>
                <a:ea typeface="Avenir Next"/>
                <a:cs typeface="Avenir Next"/>
              </a:rPr>
              <a:t>THE DOCUMENTED NEED</a:t>
            </a:r>
          </a:p>
        </p:txBody>
      </p:sp>
      <p:sp>
        <p:nvSpPr>
          <p:cNvPr id="9" name="text-14">
            <a:extLst xmlns:a="http://schemas.openxmlformats.org/drawingml/2006/main">
              <a:ext uri="{FF2B5EF4-FFF2-40B4-BE49-F238E27FC236}">
                <a16:creationId xmlns:a16="http://schemas.microsoft.com/office/drawing/2014/main" id="{77903315-0815-4CC6-A4AA-E91C2F359818}"/>
              </a:ext>
            </a:extLst>
          </p:cNvPr>
          <p:cNvSpPr>
            <a:spLocks xmlns:a="http://schemas.openxmlformats.org/drawingml/2006/main" noGrp="1"/>
          </p:cNvSpPr>
          <p:nvPr/>
        </p:nvSpPr>
        <p:spPr>
          <a:xfrm xmlns:a="http://schemas.openxmlformats.org/drawingml/2006/main">
            <a:off x="6477000" y="2552700"/>
            <a:ext cx="5000625"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73F36"/>
                </a:solidFill>
                <a:latin typeface="Avenir Next"/>
                <a:ea typeface="Avenir Next"/>
                <a:cs typeface="Avenir Next"/>
              </a:defRPr>
            </a:pPr>
            <a:r>
              <a:rPr sz="1875" b="0">
                <a:solidFill>
                  <a:srgbClr val="173F36"/>
                </a:solidFill>
                <a:latin typeface="Avenir Next"/>
                <a:ea typeface="Avenir Next"/>
                <a:cs typeface="Avenir Next"/>
              </a:rPr>
              <a:t>India’s school supervision still gives substantial attention to compliance. The NITI Aayog report calls for stronger academic mentoring and CRP capacity.</a:t>
            </a:r>
          </a:p>
        </p:txBody>
      </p:sp>
      <p:sp>
        <p:nvSpPr>
          <p:cNvPr id="10" name="">
            <a:extLst xmlns:a="http://schemas.openxmlformats.org/drawingml/2006/main">
              <a:ext uri="{FF2B5EF4-FFF2-40B4-BE49-F238E27FC236}">
                <a16:creationId xmlns:a16="http://schemas.microsoft.com/office/drawing/2014/main" id="{70E7C6A2-1EEA-4A09-86AF-23BF66C9B1AB}"/>
              </a:ext>
            </a:extLst>
          </p:cNvPr>
          <p:cNvSpPr>
            <a:spLocks xmlns:a="http://schemas.openxmlformats.org/drawingml/2006/main" noGrp="1"/>
          </p:cNvSpPr>
          <p:nvPr/>
        </p:nvSpPr>
        <p:spPr>
          <a:xfrm xmlns:a="http://schemas.openxmlformats.org/drawingml/2006/main">
            <a:off x="6477000" y="4114800"/>
            <a:ext cx="5000625" cy="9525"/>
          </a:xfrm>
          <a:prstGeom xmlns:a="http://schemas.openxmlformats.org/drawingml/2006/main" prst="rect">
            <a:avLst/>
          </a:prstGeom>
          <a:solidFill xmlns:a="http://schemas.openxmlformats.org/drawingml/2006/main">
            <a:srgbClr val="D9DED1"/>
          </a:solidFill>
          <a:ln xmlns:a="http://schemas.openxmlformats.org/drawingml/2006/main" w="0">
            <a:noFill/>
          </a:ln>
        </p:spPr>
      </p:sp>
      <p:sp>
        <p:nvSpPr>
          <p:cNvPr id="11" name="text-15">
            <a:extLst xmlns:a="http://schemas.openxmlformats.org/drawingml/2006/main">
              <a:ext uri="{FF2B5EF4-FFF2-40B4-BE49-F238E27FC236}">
                <a16:creationId xmlns:a16="http://schemas.microsoft.com/office/drawing/2014/main" id="{AD9375FC-26E2-431D-9BDF-72B09E400DAA}"/>
              </a:ext>
            </a:extLst>
          </p:cNvPr>
          <p:cNvSpPr>
            <a:spLocks xmlns:a="http://schemas.openxmlformats.org/drawingml/2006/main" noGrp="1"/>
          </p:cNvSpPr>
          <p:nvPr/>
        </p:nvSpPr>
        <p:spPr>
          <a:xfrm xmlns:a="http://schemas.openxmlformats.org/drawingml/2006/main">
            <a:off x="6477000" y="4391025"/>
            <a:ext cx="5000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73F36"/>
                </a:solidFill>
                <a:latin typeface="Avenir Next"/>
                <a:ea typeface="Avenir Next"/>
                <a:cs typeface="Avenir Next"/>
              </a:defRPr>
            </a:pPr>
            <a:r>
              <a:rPr sz="1875" b="0">
                <a:solidFill>
                  <a:srgbClr val="173F36"/>
                </a:solidFill>
                <a:latin typeface="Avenir Next"/>
                <a:ea typeface="Avenir Next"/>
                <a:cs typeface="Avenir Next"/>
              </a:rPr>
              <a:t>It recommends regular classroom visits, follow-up support, and digital records of teaching practices.</a:t>
            </a:r>
          </a:p>
        </p:txBody>
      </p:sp>
      <p:sp>
        <p:nvSpPr>
          <p:cNvPr id="12" name="text-16">
            <a:extLst xmlns:a="http://schemas.openxmlformats.org/drawingml/2006/main">
              <a:ext uri="{FF2B5EF4-FFF2-40B4-BE49-F238E27FC236}">
                <a16:creationId xmlns:a16="http://schemas.microsoft.com/office/drawing/2014/main" id="{F79C2576-6FE9-4FAB-B408-EF9A572D30BC}"/>
              </a:ext>
            </a:extLst>
          </p:cNvPr>
          <p:cNvSpPr>
            <a:spLocks xmlns:a="http://schemas.openxmlformats.org/drawingml/2006/main" noGrp="1"/>
          </p:cNvSpPr>
          <p:nvPr/>
        </p:nvSpPr>
        <p:spPr>
          <a:xfrm xmlns:a="http://schemas.openxmlformats.org/drawingml/2006/main">
            <a:off x="6477000" y="5695950"/>
            <a:ext cx="5000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69776B"/>
                </a:solidFill>
                <a:latin typeface="Avenir Next"/>
                <a:ea typeface="Avenir Next"/>
                <a:cs typeface="Avenir Next"/>
              </a:defRPr>
            </a:pPr>
            <a:r>
              <a:rPr sz="1350" b="0">
                <a:solidFill>
                  <a:srgbClr val="69776B"/>
                </a:solidFill>
                <a:latin typeface="Avenir Next"/>
                <a:ea typeface="Avenir Next"/>
                <a:cs typeface="Avenir Next"/>
              </a:rPr>
              <a:t>Primary user: CRP / teacher mentor</a:t>
            </a:r>
          </a:p>
          <a:p xmlns:a="http://schemas.openxmlformats.org/drawingml/2006/main">
            <a:pPr algn="l">
              <a:defRPr sz="1350" b="0">
                <a:solidFill>
                  <a:srgbClr val="69776B"/>
                </a:solidFill>
                <a:latin typeface="Avenir Next"/>
                <a:ea typeface="Avenir Next"/>
                <a:cs typeface="Avenir Next"/>
              </a:defRPr>
            </a:pPr>
            <a:r>
              <a:rPr sz="1350" b="0">
                <a:solidFill>
                  <a:srgbClr val="69776B"/>
                </a:solidFill>
                <a:latin typeface="Avenir Next"/>
                <a:ea typeface="Avenir Next"/>
                <a:cs typeface="Avenir Next"/>
              </a:rPr>
              <a:t>Beneficiaries: teachers and early-grade learners</a:t>
            </a:r>
          </a:p>
        </p:txBody>
      </p:sp>
    </p:spTree>
    <p:extLst>
      <p:ext uri="{BB962C8B-B14F-4D97-AF65-F5344CB8AC3E}">
        <p14:creationId xmlns:p14="http://schemas.microsoft.com/office/powerpoint/2010/main" val="1694469195"/>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text-17">
            <a:extLst xmlns:a="http://schemas.openxmlformats.org/drawingml/2006/main">
              <a:ext uri="{FF2B5EF4-FFF2-40B4-BE49-F238E27FC236}">
                <a16:creationId xmlns:a16="http://schemas.microsoft.com/office/drawing/2014/main" id="{61D024F0-2471-4484-B071-6B3F9A357D88}"/>
              </a:ext>
            </a:extLst>
          </p:cNvPr>
          <p:cNvSpPr>
            <a:spLocks xmlns:a="http://schemas.openxmlformats.org/drawingml/2006/main" noGrp="1"/>
          </p:cNvSpPr>
          <p:nvPr/>
        </p:nvSpPr>
        <p:spPr>
          <a:xfrm xmlns:a="http://schemas.openxmlformats.org/drawingml/2006/main">
            <a:off x="609600" y="35242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75" b="1">
                <a:solidFill>
                  <a:srgbClr val="BE653F"/>
                </a:solidFill>
                <a:latin typeface="Avenir Next"/>
                <a:ea typeface="Avenir Next"/>
                <a:cs typeface="Avenir Next"/>
              </a:defRPr>
            </a:pPr>
            <a:r>
              <a:rPr sz="975" b="1">
                <a:solidFill>
                  <a:srgbClr val="BE653F"/>
                </a:solidFill>
                <a:latin typeface="Avenir Next"/>
                <a:ea typeface="Avenir Next"/>
                <a:cs typeface="Avenir Next"/>
              </a:rPr>
              <a:t>02 / PROPOSED SOLUTION</a:t>
            </a:r>
          </a:p>
        </p:txBody>
      </p:sp>
      <p:sp>
        <p:nvSpPr>
          <p:cNvPr id="2" name="text-18">
            <a:extLst xmlns:a="http://schemas.openxmlformats.org/drawingml/2006/main">
              <a:ext uri="{FF2B5EF4-FFF2-40B4-BE49-F238E27FC236}">
                <a16:creationId xmlns:a16="http://schemas.microsoft.com/office/drawing/2014/main" id="{422546FE-D747-4BF5-B2E0-7B5ADFADA17E}"/>
              </a:ext>
            </a:extLst>
          </p:cNvPr>
          <p:cNvSpPr>
            <a:spLocks xmlns:a="http://schemas.openxmlformats.org/drawingml/2006/main" noGrp="1"/>
          </p:cNvSpPr>
          <p:nvPr/>
        </p:nvSpPr>
        <p:spPr>
          <a:xfrm xmlns:a="http://schemas.openxmlformats.org/drawingml/2006/main">
            <a:off x="609600" y="800100"/>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75" b="1">
                <a:solidFill>
                  <a:srgbClr val="173F36"/>
                </a:solidFill>
                <a:latin typeface="Avenir Next"/>
                <a:ea typeface="Avenir Next"/>
                <a:cs typeface="Avenir Next"/>
              </a:defRPr>
            </a:pPr>
            <a:r>
              <a:rPr sz="3375" b="1">
                <a:solidFill>
                  <a:srgbClr val="173F36"/>
                </a:solidFill>
                <a:latin typeface="Avenir Next"/>
                <a:ea typeface="Avenir Next"/>
                <a:cs typeface="Avenir Next"/>
              </a:rPr>
              <a:t>One observation becomes one usable coaching plan</a:t>
            </a:r>
          </a:p>
        </p:txBody>
      </p:sp>
      <p:sp>
        <p:nvSpPr>
          <p:cNvPr id="3" name="text-19">
            <a:extLst xmlns:a="http://schemas.openxmlformats.org/drawingml/2006/main">
              <a:ext uri="{FF2B5EF4-FFF2-40B4-BE49-F238E27FC236}">
                <a16:creationId xmlns:a16="http://schemas.microsoft.com/office/drawing/2014/main" id="{7D79C7D8-EE22-45D2-8025-5BE63A796DE7}"/>
              </a:ext>
            </a:extLst>
          </p:cNvPr>
          <p:cNvSpPr>
            <a:spLocks xmlns:a="http://schemas.openxmlformats.org/drawingml/2006/main" noGrp="1"/>
          </p:cNvSpPr>
          <p:nvPr/>
        </p:nvSpPr>
        <p:spPr>
          <a:xfrm xmlns:a="http://schemas.openxmlformats.org/drawingml/2006/main">
            <a:off x="609600" y="6448425"/>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825" b="1">
                <a:solidFill>
                  <a:srgbClr val="84917F"/>
                </a:solidFill>
                <a:latin typeface="Avenir Next"/>
                <a:ea typeface="Avenir Next"/>
                <a:cs typeface="Avenir Next"/>
              </a:defRPr>
            </a:pPr>
            <a:r>
              <a:rPr sz="825" b="1">
                <a:solidFill>
                  <a:srgbClr val="84917F"/>
                </a:solidFill>
                <a:latin typeface="Avenir Next"/>
                <a:ea typeface="Avenir Next"/>
                <a:cs typeface="Avenir Next"/>
              </a:rPr>
              <a:t>SAKSHAM AI</a:t>
            </a:r>
          </a:p>
        </p:txBody>
      </p:sp>
      <p:sp>
        <p:nvSpPr>
          <p:cNvPr id="4" name="text-20">
            <a:extLst xmlns:a="http://schemas.openxmlformats.org/drawingml/2006/main">
              <a:ext uri="{FF2B5EF4-FFF2-40B4-BE49-F238E27FC236}">
                <a16:creationId xmlns:a16="http://schemas.microsoft.com/office/drawing/2014/main" id="{B0261892-3AF2-49A6-9059-F58032AB54CB}"/>
              </a:ext>
            </a:extLst>
          </p:cNvPr>
          <p:cNvSpPr>
            <a:spLocks xmlns:a="http://schemas.openxmlformats.org/drawingml/2006/main" noGrp="1"/>
          </p:cNvSpPr>
          <p:nvPr/>
        </p:nvSpPr>
        <p:spPr>
          <a:xfrm xmlns:a="http://schemas.openxmlformats.org/drawingml/2006/main">
            <a:off x="11239500" y="6438900"/>
            <a:ext cx="3429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00" b="0">
                <a:solidFill>
                  <a:srgbClr val="84917F"/>
                </a:solidFill>
                <a:latin typeface="Avenir Next"/>
                <a:ea typeface="Avenir Next"/>
                <a:cs typeface="Avenir Next"/>
              </a:defRPr>
            </a:pPr>
            <a:r>
              <a:rPr sz="900" b="0">
                <a:solidFill>
                  <a:srgbClr val="84917F"/>
                </a:solidFill>
                <a:latin typeface="Avenir Next"/>
                <a:ea typeface="Avenir Next"/>
                <a:cs typeface="Avenir Next"/>
              </a:rPr>
              <a:t>02</a:t>
            </a:r>
          </a:p>
        </p:txBody>
      </p:sp>
      <p:sp>
        <p:nvSpPr>
          <p:cNvPr id="5" name="text-21">
            <a:extLst xmlns:a="http://schemas.openxmlformats.org/drawingml/2006/main">
              <a:ext uri="{FF2B5EF4-FFF2-40B4-BE49-F238E27FC236}">
                <a16:creationId xmlns:a16="http://schemas.microsoft.com/office/drawing/2014/main" id="{AE5AA2C3-B562-4532-9A6F-DB411A4FF05B}"/>
              </a:ext>
            </a:extLst>
          </p:cNvPr>
          <p:cNvSpPr>
            <a:spLocks xmlns:a="http://schemas.openxmlformats.org/drawingml/2006/main" noGrp="1"/>
          </p:cNvSpPr>
          <p:nvPr/>
        </p:nvSpPr>
        <p:spPr>
          <a:xfrm xmlns:a="http://schemas.openxmlformats.org/drawingml/2006/main">
            <a:off x="2266950" y="6429375"/>
            <a:ext cx="8743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825" b="0">
                <a:solidFill>
                  <a:srgbClr val="7B8675"/>
                </a:solidFill>
                <a:latin typeface="Avenir Next"/>
                <a:ea typeface="Avenir Next"/>
                <a:cs typeface="Avenir Next"/>
              </a:defRPr>
            </a:pPr>
            <a:r>
              <a:rPr sz="825" b="0">
                <a:solidFill>
                  <a:srgbClr val="7B8675"/>
                </a:solidFill>
                <a:latin typeface="Avenir Next"/>
                <a:ea typeface="Avenir Next"/>
                <a:cs typeface="Avenir Next"/>
              </a:rPr>
              <a:t>Actual prototype capture with fictional sample observations. Demo output shown; mentor review remains required.</a:t>
            </a:r>
          </a:p>
        </p:txBody>
      </p:sp>
      <p:sp>
        <p:nvSpPr>
          <p:cNvPr id="6" name="text-22">
            <a:extLst xmlns:a="http://schemas.openxmlformats.org/drawingml/2006/main">
              <a:ext uri="{FF2B5EF4-FFF2-40B4-BE49-F238E27FC236}">
                <a16:creationId xmlns:a16="http://schemas.microsoft.com/office/drawing/2014/main" id="{C5F9E5D3-139F-44CA-91E7-7C6E1BDE600C}"/>
              </a:ext>
            </a:extLst>
          </p:cNvPr>
          <p:cNvSpPr>
            <a:spLocks xmlns:a="http://schemas.openxmlformats.org/drawingml/2006/main" noGrp="1"/>
          </p:cNvSpPr>
          <p:nvPr/>
        </p:nvSpPr>
        <p:spPr>
          <a:xfrm xmlns:a="http://schemas.openxmlformats.org/drawingml/2006/main">
            <a:off x="609600" y="209550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BE653F"/>
                </a:solidFill>
                <a:latin typeface="Avenir Next"/>
                <a:ea typeface="Avenir Next"/>
                <a:cs typeface="Avenir Next"/>
              </a:defRPr>
            </a:pPr>
            <a:r>
              <a:rPr sz="1800" b="1">
                <a:solidFill>
                  <a:srgbClr val="BE653F"/>
                </a:solidFill>
                <a:latin typeface="Avenir Next"/>
                <a:ea typeface="Avenir Next"/>
                <a:cs typeface="Avenir Next"/>
              </a:rPr>
              <a:t>01</a:t>
            </a:r>
          </a:p>
        </p:txBody>
      </p:sp>
      <p:sp>
        <p:nvSpPr>
          <p:cNvPr id="7" name="text-23">
            <a:extLst xmlns:a="http://schemas.openxmlformats.org/drawingml/2006/main">
              <a:ext uri="{FF2B5EF4-FFF2-40B4-BE49-F238E27FC236}">
                <a16:creationId xmlns:a16="http://schemas.microsoft.com/office/drawing/2014/main" id="{70AD5C34-16EB-4B07-A500-364522D4F415}"/>
              </a:ext>
            </a:extLst>
          </p:cNvPr>
          <p:cNvSpPr>
            <a:spLocks xmlns:a="http://schemas.openxmlformats.org/drawingml/2006/main" noGrp="1"/>
          </p:cNvSpPr>
          <p:nvPr/>
        </p:nvSpPr>
        <p:spPr>
          <a:xfrm xmlns:a="http://schemas.openxmlformats.org/drawingml/2006/main">
            <a:off x="609600" y="2495550"/>
            <a:ext cx="3143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173F36"/>
                </a:solidFill>
                <a:latin typeface="Avenir Next"/>
                <a:ea typeface="Avenir Next"/>
                <a:cs typeface="Avenir Next"/>
              </a:defRPr>
            </a:pPr>
            <a:r>
              <a:rPr sz="2025" b="1">
                <a:solidFill>
                  <a:srgbClr val="173F36"/>
                </a:solidFill>
                <a:latin typeface="Avenir Next"/>
                <a:ea typeface="Avenir Next"/>
                <a:cs typeface="Avenir Next"/>
              </a:rPr>
              <a:t>Capture evidence</a:t>
            </a:r>
          </a:p>
        </p:txBody>
      </p:sp>
      <p:sp>
        <p:nvSpPr>
          <p:cNvPr id="8" name="text-24">
            <a:extLst xmlns:a="http://schemas.openxmlformats.org/drawingml/2006/main">
              <a:ext uri="{FF2B5EF4-FFF2-40B4-BE49-F238E27FC236}">
                <a16:creationId xmlns:a16="http://schemas.microsoft.com/office/drawing/2014/main" id="{59D4FCD6-3816-45A9-9367-A04EFF5F6FDD}"/>
              </a:ext>
            </a:extLst>
          </p:cNvPr>
          <p:cNvSpPr>
            <a:spLocks xmlns:a="http://schemas.openxmlformats.org/drawingml/2006/main" noGrp="1"/>
          </p:cNvSpPr>
          <p:nvPr/>
        </p:nvSpPr>
        <p:spPr>
          <a:xfrm xmlns:a="http://schemas.openxmlformats.org/drawingml/2006/main">
            <a:off x="609600" y="2943225"/>
            <a:ext cx="3000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69776B"/>
                </a:solidFill>
                <a:latin typeface="Avenir Next"/>
                <a:ea typeface="Avenir Next"/>
                <a:cs typeface="Avenir Next"/>
              </a:defRPr>
            </a:pPr>
            <a:r>
              <a:rPr sz="1725" b="0">
                <a:solidFill>
                  <a:srgbClr val="69776B"/>
                </a:solidFill>
                <a:latin typeface="Avenir Next"/>
                <a:ea typeface="Avenir Next"/>
                <a:cs typeface="Avenir Next"/>
              </a:rPr>
              <a:t>Speak or type what happened during a short lesson segment.</a:t>
            </a:r>
          </a:p>
        </p:txBody>
      </p:sp>
      <p:sp>
        <p:nvSpPr>
          <p:cNvPr id="9" name="text-25">
            <a:extLst xmlns:a="http://schemas.openxmlformats.org/drawingml/2006/main">
              <a:ext uri="{FF2B5EF4-FFF2-40B4-BE49-F238E27FC236}">
                <a16:creationId xmlns:a16="http://schemas.microsoft.com/office/drawing/2014/main" id="{DB0E14F9-847B-4E98-8011-E77F8FD63834}"/>
              </a:ext>
            </a:extLst>
          </p:cNvPr>
          <p:cNvSpPr>
            <a:spLocks xmlns:a="http://schemas.openxmlformats.org/drawingml/2006/main" noGrp="1"/>
          </p:cNvSpPr>
          <p:nvPr/>
        </p:nvSpPr>
        <p:spPr>
          <a:xfrm xmlns:a="http://schemas.openxmlformats.org/drawingml/2006/main">
            <a:off x="609600" y="40195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BE653F"/>
                </a:solidFill>
                <a:latin typeface="Avenir Next"/>
                <a:ea typeface="Avenir Next"/>
                <a:cs typeface="Avenir Next"/>
              </a:defRPr>
            </a:pPr>
            <a:r>
              <a:rPr sz="1800" b="1">
                <a:solidFill>
                  <a:srgbClr val="BE653F"/>
                </a:solidFill>
                <a:latin typeface="Avenir Next"/>
                <a:ea typeface="Avenir Next"/>
                <a:cs typeface="Avenir Next"/>
              </a:rPr>
              <a:t>02</a:t>
            </a:r>
          </a:p>
        </p:txBody>
      </p:sp>
      <p:sp>
        <p:nvSpPr>
          <p:cNvPr id="10" name="text-26">
            <a:extLst xmlns:a="http://schemas.openxmlformats.org/drawingml/2006/main">
              <a:ext uri="{FF2B5EF4-FFF2-40B4-BE49-F238E27FC236}">
                <a16:creationId xmlns:a16="http://schemas.microsoft.com/office/drawing/2014/main" id="{111D7C03-7C0E-4897-BB4B-B7A3DDD839AA}"/>
              </a:ext>
            </a:extLst>
          </p:cNvPr>
          <p:cNvSpPr>
            <a:spLocks xmlns:a="http://schemas.openxmlformats.org/drawingml/2006/main" noGrp="1"/>
          </p:cNvSpPr>
          <p:nvPr/>
        </p:nvSpPr>
        <p:spPr>
          <a:xfrm xmlns:a="http://schemas.openxmlformats.org/drawingml/2006/main">
            <a:off x="609600" y="4419600"/>
            <a:ext cx="3219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173F36"/>
                </a:solidFill>
                <a:latin typeface="Avenir Next"/>
                <a:ea typeface="Avenir Next"/>
                <a:cs typeface="Avenir Next"/>
              </a:defRPr>
            </a:pPr>
            <a:r>
              <a:rPr sz="2025" b="1">
                <a:solidFill>
                  <a:srgbClr val="173F36"/>
                </a:solidFill>
                <a:latin typeface="Avenir Next"/>
                <a:ea typeface="Avenir Next"/>
                <a:cs typeface="Avenir Next"/>
              </a:rPr>
              <a:t>Choose one next step</a:t>
            </a:r>
          </a:p>
        </p:txBody>
      </p:sp>
      <p:sp>
        <p:nvSpPr>
          <p:cNvPr id="11" name="text-27">
            <a:extLst xmlns:a="http://schemas.openxmlformats.org/drawingml/2006/main">
              <a:ext uri="{FF2B5EF4-FFF2-40B4-BE49-F238E27FC236}">
                <a16:creationId xmlns:a16="http://schemas.microsoft.com/office/drawing/2014/main" id="{ABE7C465-CA6A-4007-9770-03A7D467760D}"/>
              </a:ext>
            </a:extLst>
          </p:cNvPr>
          <p:cNvSpPr>
            <a:spLocks xmlns:a="http://schemas.openxmlformats.org/drawingml/2006/main" noGrp="1"/>
          </p:cNvSpPr>
          <p:nvPr/>
        </p:nvSpPr>
        <p:spPr>
          <a:xfrm xmlns:a="http://schemas.openxmlformats.org/drawingml/2006/main">
            <a:off x="609600" y="4867275"/>
            <a:ext cx="295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69776B"/>
                </a:solidFill>
                <a:latin typeface="Avenir Next"/>
                <a:ea typeface="Avenir Next"/>
                <a:cs typeface="Avenir Next"/>
              </a:defRPr>
            </a:pPr>
            <a:r>
              <a:rPr sz="1725" b="0">
                <a:solidFill>
                  <a:srgbClr val="69776B"/>
                </a:solidFill>
                <a:latin typeface="Avenir Next"/>
                <a:ea typeface="Avenir Next"/>
                <a:cs typeface="Avenir Next"/>
              </a:rPr>
              <a:t>Review the interpretation, its source, and a practice the teacher can try.</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663dad8622e649fe"/>
          <a:stretch xmlns:a="http://schemas.openxmlformats.org/drawingml/2006/main"/>
        </p:blipFill>
        <p:spPr>
          <a:xfrm xmlns:a="http://schemas.openxmlformats.org/drawingml/2006/main">
            <a:off x="4262902" y="2095500"/>
            <a:ext cx="6942796" cy="4095750"/>
          </a:xfrm>
          <a:prstGeom xmlns:a="http://schemas.openxmlformats.org/drawingml/2006/main" prst="rect">
            <a:avLst/>
          </a:prstGeom>
        </p:spPr>
      </p:pic>
    </p:spTree>
    <p:extLst>
      <p:ext uri="{BB962C8B-B14F-4D97-AF65-F5344CB8AC3E}">
        <p14:creationId xmlns:p14="http://schemas.microsoft.com/office/powerpoint/2010/main" val="1795338007"/>
      </p:ext>
    </p:extLst>
  </p:cSld>
</p:sld>
</file>

<file path=ppt/slides/slide4.xml><?xml version="1.0" encoding="utf-8"?>
<p:sld xmlns:p="http://schemas.openxmlformats.org/presentationml/2006/main">
  <p:cSld>
    <p:bg>
      <p:bgPr>
        <a:solidFill xmlns:a="http://schemas.openxmlformats.org/drawingml/2006/main">
          <a:srgbClr val="173F36"/>
        </a:solidFill>
      </p:bgPr>
    </p:bg>
    <p:spTree>
      <p:nvGrpSpPr>
        <p:cNvPr id="1" name=""/>
        <p:cNvGrpSpPr/>
        <p:nvPr/>
      </p:nvGrpSpPr>
      <p:grpSpPr>
        <a:xfrm xmlns:a="http://schemas.openxmlformats.org/drawingml/2006/main"/>
      </p:grpSpPr>
      <p:sp>
        <p:nvSpPr>
          <p:cNvPr id="11" name="text-28">
            <a:extLst xmlns:a="http://schemas.openxmlformats.org/drawingml/2006/main">
              <a:ext uri="{FF2B5EF4-FFF2-40B4-BE49-F238E27FC236}">
                <a16:creationId xmlns:a16="http://schemas.microsoft.com/office/drawing/2014/main" id="{B189D275-13CB-4A50-9616-3AD9C816DAB3}"/>
              </a:ext>
            </a:extLst>
          </p:cNvPr>
          <p:cNvSpPr>
            <a:spLocks xmlns:a="http://schemas.openxmlformats.org/drawingml/2006/main" noGrp="1"/>
          </p:cNvSpPr>
          <p:nvPr/>
        </p:nvSpPr>
        <p:spPr>
          <a:xfrm xmlns:a="http://schemas.openxmlformats.org/drawingml/2006/main">
            <a:off x="609600" y="35242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75" b="1">
                <a:solidFill>
                  <a:srgbClr val="D5E9AC"/>
                </a:solidFill>
                <a:latin typeface="Avenir Next"/>
                <a:ea typeface="Avenir Next"/>
                <a:cs typeface="Avenir Next"/>
              </a:defRPr>
            </a:pPr>
            <a:r>
              <a:rPr sz="975" b="1">
                <a:solidFill>
                  <a:srgbClr val="D5E9AC"/>
                </a:solidFill>
                <a:latin typeface="Avenir Next"/>
                <a:ea typeface="Avenir Next"/>
                <a:cs typeface="Avenir Next"/>
              </a:rPr>
              <a:t>03 / PROPOSED SOLUTION</a:t>
            </a:r>
          </a:p>
        </p:txBody>
      </p:sp>
      <p:sp>
        <p:nvSpPr>
          <p:cNvPr id="2" name="text-29">
            <a:extLst xmlns:a="http://schemas.openxmlformats.org/drawingml/2006/main">
              <a:ext uri="{FF2B5EF4-FFF2-40B4-BE49-F238E27FC236}">
                <a16:creationId xmlns:a16="http://schemas.microsoft.com/office/drawing/2014/main" id="{D6F57396-3EFC-4FA0-B01A-5FB83ABBD63A}"/>
              </a:ext>
            </a:extLst>
          </p:cNvPr>
          <p:cNvSpPr>
            <a:spLocks xmlns:a="http://schemas.openxmlformats.org/drawingml/2006/main" noGrp="1"/>
          </p:cNvSpPr>
          <p:nvPr/>
        </p:nvSpPr>
        <p:spPr>
          <a:xfrm xmlns:a="http://schemas.openxmlformats.org/drawingml/2006/main">
            <a:off x="609600" y="800100"/>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75" b="1">
                <a:solidFill>
                  <a:srgbClr val="F7F5EF"/>
                </a:solidFill>
                <a:latin typeface="Avenir Next"/>
                <a:ea typeface="Avenir Next"/>
                <a:cs typeface="Avenir Next"/>
              </a:defRPr>
            </a:pPr>
            <a:r>
              <a:rPr sz="3375" b="1">
                <a:solidFill>
                  <a:srgbClr val="F7F5EF"/>
                </a:solidFill>
                <a:latin typeface="Avenir Next"/>
                <a:ea typeface="Avenir Next"/>
                <a:cs typeface="Avenir Next"/>
              </a:rPr>
              <a:t>The mentor practises before the real conversation</a:t>
            </a:r>
          </a:p>
        </p:txBody>
      </p:sp>
      <p:sp>
        <p:nvSpPr>
          <p:cNvPr id="3" name="text-30">
            <a:extLst xmlns:a="http://schemas.openxmlformats.org/drawingml/2006/main">
              <a:ext uri="{FF2B5EF4-FFF2-40B4-BE49-F238E27FC236}">
                <a16:creationId xmlns:a16="http://schemas.microsoft.com/office/drawing/2014/main" id="{E2618093-47E4-4B4C-9407-366F21725E8F}"/>
              </a:ext>
            </a:extLst>
          </p:cNvPr>
          <p:cNvSpPr>
            <a:spLocks xmlns:a="http://schemas.openxmlformats.org/drawingml/2006/main" noGrp="1"/>
          </p:cNvSpPr>
          <p:nvPr/>
        </p:nvSpPr>
        <p:spPr>
          <a:xfrm xmlns:a="http://schemas.openxmlformats.org/drawingml/2006/main">
            <a:off x="609600" y="6448425"/>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825" b="1">
                <a:solidFill>
                  <a:srgbClr val="A4BAAB"/>
                </a:solidFill>
                <a:latin typeface="Avenir Next"/>
                <a:ea typeface="Avenir Next"/>
                <a:cs typeface="Avenir Next"/>
              </a:defRPr>
            </a:pPr>
            <a:r>
              <a:rPr sz="825" b="1">
                <a:solidFill>
                  <a:srgbClr val="A4BAAB"/>
                </a:solidFill>
                <a:latin typeface="Avenir Next"/>
                <a:ea typeface="Avenir Next"/>
                <a:cs typeface="Avenir Next"/>
              </a:rPr>
              <a:t>SAKSHAM AI</a:t>
            </a:r>
          </a:p>
        </p:txBody>
      </p:sp>
      <p:sp>
        <p:nvSpPr>
          <p:cNvPr id="4" name="text-31">
            <a:extLst xmlns:a="http://schemas.openxmlformats.org/drawingml/2006/main">
              <a:ext uri="{FF2B5EF4-FFF2-40B4-BE49-F238E27FC236}">
                <a16:creationId xmlns:a16="http://schemas.microsoft.com/office/drawing/2014/main" id="{192718A6-1B46-4FE4-8749-0AEBDDFA0B9E}"/>
              </a:ext>
            </a:extLst>
          </p:cNvPr>
          <p:cNvSpPr>
            <a:spLocks xmlns:a="http://schemas.openxmlformats.org/drawingml/2006/main" noGrp="1"/>
          </p:cNvSpPr>
          <p:nvPr/>
        </p:nvSpPr>
        <p:spPr>
          <a:xfrm xmlns:a="http://schemas.openxmlformats.org/drawingml/2006/main">
            <a:off x="11239500" y="6438900"/>
            <a:ext cx="3429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00" b="0">
                <a:solidFill>
                  <a:srgbClr val="A4BAAB"/>
                </a:solidFill>
                <a:latin typeface="Avenir Next"/>
                <a:ea typeface="Avenir Next"/>
                <a:cs typeface="Avenir Next"/>
              </a:defRPr>
            </a:pPr>
            <a:r>
              <a:rPr sz="900" b="0">
                <a:solidFill>
                  <a:srgbClr val="A4BAAB"/>
                </a:solidFill>
                <a:latin typeface="Avenir Next"/>
                <a:ea typeface="Avenir Next"/>
                <a:cs typeface="Avenir Next"/>
              </a:rPr>
              <a:t>03</a:t>
            </a:r>
          </a:p>
        </p:txBody>
      </p:sp>
      <p:sp>
        <p:nvSpPr>
          <p:cNvPr id="5" name="text-32">
            <a:extLst xmlns:a="http://schemas.openxmlformats.org/drawingml/2006/main">
              <a:ext uri="{FF2B5EF4-FFF2-40B4-BE49-F238E27FC236}">
                <a16:creationId xmlns:a16="http://schemas.microsoft.com/office/drawing/2014/main" id="{8BE26F45-92A1-427F-A9AA-433D8C3DE27C}"/>
              </a:ext>
            </a:extLst>
          </p:cNvPr>
          <p:cNvSpPr>
            <a:spLocks xmlns:a="http://schemas.openxmlformats.org/drawingml/2006/main" noGrp="1"/>
          </p:cNvSpPr>
          <p:nvPr/>
        </p:nvSpPr>
        <p:spPr>
          <a:xfrm xmlns:a="http://schemas.openxmlformats.org/drawingml/2006/main">
            <a:off x="2266950" y="6429375"/>
            <a:ext cx="8743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825" b="0">
                <a:solidFill>
                  <a:srgbClr val="ABC0AE"/>
                </a:solidFill>
                <a:latin typeface="Avenir Next"/>
                <a:ea typeface="Avenir Next"/>
                <a:cs typeface="Avenir Next"/>
              </a:defRPr>
            </a:pPr>
            <a:r>
              <a:rPr sz="825" b="0">
                <a:solidFill>
                  <a:srgbClr val="ABC0AE"/>
                </a:solidFill>
                <a:latin typeface="Avenir Next"/>
                <a:ea typeface="Avenir Next"/>
                <a:cs typeface="Avenir Next"/>
              </a:rPr>
              <a:t>Actual prototype capture. Scripted rehearsal shown. Adaptive Claude role-play is planned and requires validation.</a:t>
            </a:r>
          </a:p>
        </p:txBody>
      </p:sp>
      <p:sp>
        <p:nvSpPr>
          <p:cNvPr id="6" name="text-33">
            <a:extLst xmlns:a="http://schemas.openxmlformats.org/drawingml/2006/main">
              <a:ext uri="{FF2B5EF4-FFF2-40B4-BE49-F238E27FC236}">
                <a16:creationId xmlns:a16="http://schemas.microsoft.com/office/drawing/2014/main" id="{C89D913B-2015-4F1E-A64E-FFBB46E552BC}"/>
              </a:ext>
            </a:extLst>
          </p:cNvPr>
          <p:cNvSpPr>
            <a:spLocks xmlns:a="http://schemas.openxmlformats.org/drawingml/2006/main" noGrp="1"/>
          </p:cNvSpPr>
          <p:nvPr/>
        </p:nvSpPr>
        <p:spPr>
          <a:xfrm xmlns:a="http://schemas.openxmlformats.org/drawingml/2006/main">
            <a:off x="609600" y="2095500"/>
            <a:ext cx="309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D5E9AC"/>
                </a:solidFill>
                <a:latin typeface="Avenir Next"/>
                <a:ea typeface="Avenir Next"/>
                <a:cs typeface="Avenir Next"/>
              </a:defRPr>
            </a:pPr>
            <a:r>
              <a:rPr sz="2250" b="1">
                <a:solidFill>
                  <a:srgbClr val="D5E9AC"/>
                </a:solidFill>
                <a:latin typeface="Avenir Next"/>
                <a:ea typeface="Avenir Next"/>
                <a:cs typeface="Avenir Next"/>
              </a:rPr>
              <a:t>AI takes the teacher’s role</a:t>
            </a:r>
          </a:p>
        </p:txBody>
      </p:sp>
      <p:sp>
        <p:nvSpPr>
          <p:cNvPr id="7" name="text-34">
            <a:extLst xmlns:a="http://schemas.openxmlformats.org/drawingml/2006/main">
              <a:ext uri="{FF2B5EF4-FFF2-40B4-BE49-F238E27FC236}">
                <a16:creationId xmlns:a16="http://schemas.microsoft.com/office/drawing/2014/main" id="{E0D02ED0-49AE-4FA5-B74D-34BBBC296AE2}"/>
              </a:ext>
            </a:extLst>
          </p:cNvPr>
          <p:cNvSpPr>
            <a:spLocks xmlns:a="http://schemas.openxmlformats.org/drawingml/2006/main" noGrp="1"/>
          </p:cNvSpPr>
          <p:nvPr/>
        </p:nvSpPr>
        <p:spPr>
          <a:xfrm xmlns:a="http://schemas.openxmlformats.org/drawingml/2006/main">
            <a:off x="609600" y="3162300"/>
            <a:ext cx="28956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CFDACA"/>
                </a:solidFill>
                <a:latin typeface="Avenir Next"/>
                <a:ea typeface="Avenir Next"/>
                <a:cs typeface="Avenir Next"/>
              </a:defRPr>
            </a:pPr>
            <a:r>
              <a:rPr sz="1800" b="0">
                <a:solidFill>
                  <a:srgbClr val="CFDACA"/>
                </a:solidFill>
                <a:latin typeface="Avenir Next"/>
                <a:ea typeface="Avenir Next"/>
                <a:cs typeface="Avenir Next"/>
              </a:rPr>
              <a:t>The mentor rehearses a response grounded in the observation.</a:t>
            </a:r>
          </a:p>
        </p:txBody>
      </p:sp>
      <p:sp>
        <p:nvSpPr>
          <p:cNvPr id="8" name="text-35">
            <a:extLst xmlns:a="http://schemas.openxmlformats.org/drawingml/2006/main">
              <a:ext uri="{FF2B5EF4-FFF2-40B4-BE49-F238E27FC236}">
                <a16:creationId xmlns:a16="http://schemas.microsoft.com/office/drawing/2014/main" id="{607688D4-F5C4-4CE3-90EC-82A7057C5937}"/>
              </a:ext>
            </a:extLst>
          </p:cNvPr>
          <p:cNvSpPr>
            <a:spLocks xmlns:a="http://schemas.openxmlformats.org/drawingml/2006/main" noGrp="1"/>
          </p:cNvSpPr>
          <p:nvPr/>
        </p:nvSpPr>
        <p:spPr>
          <a:xfrm xmlns:a="http://schemas.openxmlformats.org/drawingml/2006/main">
            <a:off x="609600" y="4391025"/>
            <a:ext cx="31051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D5E9AC"/>
                </a:solidFill>
                <a:latin typeface="Avenir Next"/>
                <a:ea typeface="Avenir Next"/>
                <a:cs typeface="Avenir Next"/>
              </a:defRPr>
            </a:pPr>
            <a:r>
              <a:rPr sz="2175" b="1">
                <a:solidFill>
                  <a:srgbClr val="D5E9AC"/>
                </a:solidFill>
                <a:latin typeface="Avenir Next"/>
                <a:ea typeface="Avenir Next"/>
                <a:cs typeface="Avenir Next"/>
              </a:rPr>
              <a:t>The coach gets feedback</a:t>
            </a:r>
          </a:p>
        </p:txBody>
      </p:sp>
      <p:sp>
        <p:nvSpPr>
          <p:cNvPr id="9" name="text-36">
            <a:extLst xmlns:a="http://schemas.openxmlformats.org/drawingml/2006/main">
              <a:ext uri="{FF2B5EF4-FFF2-40B4-BE49-F238E27FC236}">
                <a16:creationId xmlns:a16="http://schemas.microsoft.com/office/drawing/2014/main" id="{618D2489-4436-4526-B38A-4749874A4D76}"/>
              </a:ext>
            </a:extLst>
          </p:cNvPr>
          <p:cNvSpPr>
            <a:spLocks xmlns:a="http://schemas.openxmlformats.org/drawingml/2006/main" noGrp="1"/>
          </p:cNvSpPr>
          <p:nvPr/>
        </p:nvSpPr>
        <p:spPr>
          <a:xfrm xmlns:a="http://schemas.openxmlformats.org/drawingml/2006/main">
            <a:off x="609600" y="5324475"/>
            <a:ext cx="28765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CFDACA"/>
                </a:solidFill>
                <a:latin typeface="Avenir Next"/>
                <a:ea typeface="Avenir Next"/>
                <a:cs typeface="Avenir Next"/>
              </a:defRPr>
            </a:pPr>
            <a:r>
              <a:rPr sz="1725" b="0">
                <a:solidFill>
                  <a:srgbClr val="CFDACA"/>
                </a:solidFill>
                <a:latin typeface="Avenir Next"/>
                <a:ea typeface="Avenir Next"/>
                <a:cs typeface="Avenir Next"/>
              </a:rPr>
              <a:t>On specificity, respectful inquiry, and a feasible next step.</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0702b1fbe77c4441"/>
          <a:stretch xmlns:a="http://schemas.openxmlformats.org/drawingml/2006/main"/>
        </p:blipFill>
        <p:spPr>
          <a:xfrm xmlns:a="http://schemas.openxmlformats.org/drawingml/2006/main">
            <a:off x="4302991" y="2095500"/>
            <a:ext cx="6900718" cy="4095750"/>
          </a:xfrm>
          <a:prstGeom xmlns:a="http://schemas.openxmlformats.org/drawingml/2006/main" prst="rect">
            <a:avLst/>
          </a:prstGeom>
        </p:spPr>
      </p:pic>
    </p:spTree>
    <p:extLst>
      <p:ext uri="{BB962C8B-B14F-4D97-AF65-F5344CB8AC3E}">
        <p14:creationId xmlns:p14="http://schemas.microsoft.com/office/powerpoint/2010/main" val="529548576"/>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0" name="text-37">
            <a:extLst xmlns:a="http://schemas.openxmlformats.org/drawingml/2006/main">
              <a:ext uri="{FF2B5EF4-FFF2-40B4-BE49-F238E27FC236}">
                <a16:creationId xmlns:a16="http://schemas.microsoft.com/office/drawing/2014/main" id="{080886EB-7218-4B1E-AD7A-7B736FD9002B}"/>
              </a:ext>
            </a:extLst>
          </p:cNvPr>
          <p:cNvSpPr>
            <a:spLocks xmlns:a="http://schemas.openxmlformats.org/drawingml/2006/main" noGrp="1"/>
          </p:cNvSpPr>
          <p:nvPr/>
        </p:nvSpPr>
        <p:spPr>
          <a:xfrm xmlns:a="http://schemas.openxmlformats.org/drawingml/2006/main">
            <a:off x="609600" y="35242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75" b="1">
                <a:solidFill>
                  <a:srgbClr val="BE653F"/>
                </a:solidFill>
                <a:latin typeface="Avenir Next"/>
                <a:ea typeface="Avenir Next"/>
                <a:cs typeface="Avenir Next"/>
              </a:defRPr>
            </a:pPr>
            <a:r>
              <a:rPr sz="975" b="1">
                <a:solidFill>
                  <a:srgbClr val="BE653F"/>
                </a:solidFill>
                <a:latin typeface="Avenir Next"/>
                <a:ea typeface="Avenir Next"/>
                <a:cs typeface="Avenir Next"/>
              </a:rPr>
              <a:t>04 / USERS AND CONTEXT</a:t>
            </a:r>
          </a:p>
        </p:txBody>
      </p:sp>
      <p:sp>
        <p:nvSpPr>
          <p:cNvPr id="2" name="text-38">
            <a:extLst xmlns:a="http://schemas.openxmlformats.org/drawingml/2006/main">
              <a:ext uri="{FF2B5EF4-FFF2-40B4-BE49-F238E27FC236}">
                <a16:creationId xmlns:a16="http://schemas.microsoft.com/office/drawing/2014/main" id="{723F9A6D-953B-490F-B38F-924A9E677B43}"/>
              </a:ext>
            </a:extLst>
          </p:cNvPr>
          <p:cNvSpPr>
            <a:spLocks xmlns:a="http://schemas.openxmlformats.org/drawingml/2006/main" noGrp="1"/>
          </p:cNvSpPr>
          <p:nvPr/>
        </p:nvSpPr>
        <p:spPr>
          <a:xfrm xmlns:a="http://schemas.openxmlformats.org/drawingml/2006/main">
            <a:off x="609600" y="800100"/>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75" b="1">
                <a:solidFill>
                  <a:srgbClr val="173F36"/>
                </a:solidFill>
                <a:latin typeface="Avenir Next"/>
                <a:ea typeface="Avenir Next"/>
                <a:cs typeface="Avenir Next"/>
              </a:defRPr>
            </a:pPr>
            <a:r>
              <a:rPr sz="3375" b="1">
                <a:solidFill>
                  <a:srgbClr val="173F36"/>
                </a:solidFill>
                <a:latin typeface="Avenir Next"/>
                <a:ea typeface="Avenir Next"/>
                <a:cs typeface="Avenir Next"/>
              </a:rPr>
              <a:t>Designed around the mentor’s field day</a:t>
            </a:r>
          </a:p>
        </p:txBody>
      </p:sp>
      <p:sp>
        <p:nvSpPr>
          <p:cNvPr id="3" name="text-39">
            <a:extLst xmlns:a="http://schemas.openxmlformats.org/drawingml/2006/main">
              <a:ext uri="{FF2B5EF4-FFF2-40B4-BE49-F238E27FC236}">
                <a16:creationId xmlns:a16="http://schemas.microsoft.com/office/drawing/2014/main" id="{F295C52A-99FE-41EB-803D-86126DE74AD9}"/>
              </a:ext>
            </a:extLst>
          </p:cNvPr>
          <p:cNvSpPr>
            <a:spLocks xmlns:a="http://schemas.openxmlformats.org/drawingml/2006/main" noGrp="1"/>
          </p:cNvSpPr>
          <p:nvPr/>
        </p:nvSpPr>
        <p:spPr>
          <a:xfrm xmlns:a="http://schemas.openxmlformats.org/drawingml/2006/main">
            <a:off x="609600" y="6448425"/>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825" b="1">
                <a:solidFill>
                  <a:srgbClr val="84917F"/>
                </a:solidFill>
                <a:latin typeface="Avenir Next"/>
                <a:ea typeface="Avenir Next"/>
                <a:cs typeface="Avenir Next"/>
              </a:defRPr>
            </a:pPr>
            <a:r>
              <a:rPr sz="825" b="1">
                <a:solidFill>
                  <a:srgbClr val="84917F"/>
                </a:solidFill>
                <a:latin typeface="Avenir Next"/>
                <a:ea typeface="Avenir Next"/>
                <a:cs typeface="Avenir Next"/>
              </a:rPr>
              <a:t>SAKSHAM AI</a:t>
            </a:r>
          </a:p>
        </p:txBody>
      </p:sp>
      <p:sp>
        <p:nvSpPr>
          <p:cNvPr id="4" name="text-40">
            <a:extLst xmlns:a="http://schemas.openxmlformats.org/drawingml/2006/main">
              <a:ext uri="{FF2B5EF4-FFF2-40B4-BE49-F238E27FC236}">
                <a16:creationId xmlns:a16="http://schemas.microsoft.com/office/drawing/2014/main" id="{0CF7F744-5033-435D-82E1-AB175A71377D}"/>
              </a:ext>
            </a:extLst>
          </p:cNvPr>
          <p:cNvSpPr>
            <a:spLocks xmlns:a="http://schemas.openxmlformats.org/drawingml/2006/main" noGrp="1"/>
          </p:cNvSpPr>
          <p:nvPr/>
        </p:nvSpPr>
        <p:spPr>
          <a:xfrm xmlns:a="http://schemas.openxmlformats.org/drawingml/2006/main">
            <a:off x="11239500" y="6438900"/>
            <a:ext cx="3429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00" b="0">
                <a:solidFill>
                  <a:srgbClr val="84917F"/>
                </a:solidFill>
                <a:latin typeface="Avenir Next"/>
                <a:ea typeface="Avenir Next"/>
                <a:cs typeface="Avenir Next"/>
              </a:defRPr>
            </a:pPr>
            <a:r>
              <a:rPr sz="900" b="0">
                <a:solidFill>
                  <a:srgbClr val="84917F"/>
                </a:solidFill>
                <a:latin typeface="Avenir Next"/>
                <a:ea typeface="Avenir Next"/>
                <a:cs typeface="Avenir Next"/>
              </a:rPr>
              <a:t>04</a:t>
            </a:r>
          </a:p>
        </p:txBody>
      </p:sp>
      <p:sp>
        <p:nvSpPr>
          <p:cNvPr id="5" name="text-41">
            <a:extLst xmlns:a="http://schemas.openxmlformats.org/drawingml/2006/main">
              <a:ext uri="{FF2B5EF4-FFF2-40B4-BE49-F238E27FC236}">
                <a16:creationId xmlns:a16="http://schemas.microsoft.com/office/drawing/2014/main" id="{F9159152-009E-496F-8CDB-0A553DFEF755}"/>
              </a:ext>
            </a:extLst>
          </p:cNvPr>
          <p:cNvSpPr>
            <a:spLocks xmlns:a="http://schemas.openxmlformats.org/drawingml/2006/main" noGrp="1"/>
          </p:cNvSpPr>
          <p:nvPr/>
        </p:nvSpPr>
        <p:spPr>
          <a:xfrm xmlns:a="http://schemas.openxmlformats.org/drawingml/2006/main">
            <a:off x="2266950" y="6429375"/>
            <a:ext cx="8743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825" b="0">
                <a:solidFill>
                  <a:srgbClr val="7B8675"/>
                </a:solidFill>
                <a:latin typeface="Avenir Next"/>
                <a:ea typeface="Avenir Next"/>
                <a:cs typeface="Avenir Next"/>
              </a:defRPr>
            </a:pPr>
            <a:r>
              <a:rPr sz="825" b="0">
                <a:solidFill>
                  <a:srgbClr val="7B8675"/>
                </a:solidFill>
                <a:latin typeface="Avenir Next"/>
                <a:ea typeface="Avenir Next"/>
                <a:cs typeface="Avenir Next"/>
              </a:rPr>
              <a:t>Meena is a fictional design persona. Constraints are design assumptions to validate with CRPs; voice support is browser-dependent.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ee4839ce32b4c4f"/>
          <a:stretch xmlns:a="http://schemas.openxmlformats.org/drawingml/2006/main"/>
        </p:blipFill>
        <p:spPr>
          <a:xfrm xmlns:a="http://schemas.openxmlformats.org/drawingml/2006/main">
            <a:off x="610293" y="2047875"/>
            <a:ext cx="2360815" cy="4057650"/>
          </a:xfrm>
          <a:prstGeom xmlns:a="http://schemas.openxmlformats.org/drawingml/2006/main" prst="rect">
            <a:avLst/>
          </a:prstGeom>
        </p:spPr>
      </p:pic>
      <p:sp>
        <p:nvSpPr>
          <p:cNvPr id="7" name="text-42">
            <a:extLst xmlns:a="http://schemas.openxmlformats.org/drawingml/2006/main">
              <a:ext uri="{FF2B5EF4-FFF2-40B4-BE49-F238E27FC236}">
                <a16:creationId xmlns:a16="http://schemas.microsoft.com/office/drawing/2014/main" id="{29C92192-742A-4CE0-90C4-542B804F00B2}"/>
              </a:ext>
            </a:extLst>
          </p:cNvPr>
          <p:cNvSpPr>
            <a:spLocks xmlns:a="http://schemas.openxmlformats.org/drawingml/2006/main" noGrp="1"/>
          </p:cNvSpPr>
          <p:nvPr/>
        </p:nvSpPr>
        <p:spPr>
          <a:xfrm xmlns:a="http://schemas.openxmlformats.org/drawingml/2006/main">
            <a:off x="3448050" y="2047875"/>
            <a:ext cx="785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3F36"/>
                </a:solidFill>
                <a:latin typeface="Avenir Next"/>
                <a:ea typeface="Avenir Next"/>
                <a:cs typeface="Avenir Next"/>
              </a:defRPr>
            </a:pPr>
            <a:r>
              <a:rPr sz="2250" b="1">
                <a:solidFill>
                  <a:srgbClr val="173F36"/>
                </a:solidFill>
                <a:latin typeface="Avenir Next"/>
                <a:ea typeface="Avenir Next"/>
                <a:cs typeface="Avenir Next"/>
              </a:rPr>
              <a:t>Meena, Cluster Resource Person</a:t>
            </a:r>
          </a:p>
        </p:txBody>
      </p:sp>
      <p:sp>
        <p:nvSpPr>
          <p:cNvPr id="8" name="text-43">
            <a:extLst xmlns:a="http://schemas.openxmlformats.org/drawingml/2006/main">
              <a:ext uri="{FF2B5EF4-FFF2-40B4-BE49-F238E27FC236}">
                <a16:creationId xmlns:a16="http://schemas.microsoft.com/office/drawing/2014/main" id="{25546C8F-3758-41A7-8639-B46B95BCB2A5}"/>
              </a:ext>
            </a:extLst>
          </p:cNvPr>
          <p:cNvSpPr>
            <a:spLocks xmlns:a="http://schemas.openxmlformats.org/drawingml/2006/main" noGrp="1"/>
          </p:cNvSpPr>
          <p:nvPr/>
        </p:nvSpPr>
        <p:spPr>
          <a:xfrm xmlns:a="http://schemas.openxmlformats.org/drawingml/2006/main">
            <a:off x="3448050" y="2609850"/>
            <a:ext cx="78581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69776B"/>
                </a:solidFill>
                <a:latin typeface="Avenir Next"/>
                <a:ea typeface="Avenir Next"/>
                <a:cs typeface="Avenir Next"/>
              </a:defRPr>
            </a:pPr>
            <a:r>
              <a:rPr sz="1875" b="0">
                <a:solidFill>
                  <a:srgbClr val="69776B"/>
                </a:solidFill>
                <a:latin typeface="Avenir Next"/>
                <a:ea typeface="Avenir Next"/>
                <a:cs typeface="Avenir Next"/>
              </a:rPr>
              <a:t>Supports early-grade teachers across a school cluster. Needs an observation she can use in a conversation, with minimal re-entry.</a:t>
            </a:r>
          </a:p>
        </p:txBody>
      </p:sp>
      <p:graphicFrame>
        <p:nvGraphicFramePr>
          <p:cNvPr id="18" name=""/>
          <p:cNvGraphicFramePr/>
          <p:nvPr/>
        </p:nvGraphicFramePr>
        <p:xfrm>
          <a:off xmlns:a="http://schemas.openxmlformats.org/drawingml/2006/main" x="3448050" y="3648075"/>
          <a:ext xmlns:a="http://schemas.openxmlformats.org/drawingml/2006/main" cx="8134350" cy="2381250"/>
        </p:xfrm>
        <a:graphic xmlns:a="http://schemas.openxmlformats.org/drawingml/2006/main">
          <a:graphicData uri="http://schemas.openxmlformats.org/drawingml/2006/table">
            <a:tbl>
              <a:tblPr/>
              <a:tblGrid>
                <a:gridCol w="2895600"/>
                <a:gridCol w="5238750"/>
              </a:tblGrid>
              <a:tr h="476250">
                <a:tc>
                  <a:txBody>
                    <a:bodyPr lIns="171450" tIns="123825" rIns="171450" bIns="123825"/>
                    <a:lstStyle/>
                    <a:p>
                      <a:r>
                        <a:rPr sz="1200" b="1">
                          <a:solidFill>
                            <a:srgbClr val="FFFFFF"/>
                          </a:solidFill>
                          <a:latin typeface="Avenir Next"/>
                          <a:ea typeface="Avenir Next"/>
                          <a:cs typeface="Avenir Next"/>
                        </a:rPr>
                        <a:t>Field constraint</a:t>
                      </a:r>
                    </a:p>
                  </a:txBody>
                  <a:tcPr marL="91440" marR="91440" marT="45720" marB="45720" anchor="ctr">
                    <a:solidFill>
                      <a:srgbClr val="173F36"/>
                    </a:solidFill>
                  </a:tcPr>
                </a:tc>
                <a:tc>
                  <a:txBody>
                    <a:bodyPr lIns="171450" tIns="123825" rIns="171450" bIns="123825"/>
                    <a:lstStyle/>
                    <a:p>
                      <a:r>
                        <a:rPr sz="1200" b="1">
                          <a:solidFill>
                            <a:srgbClr val="FFFFFF"/>
                          </a:solidFill>
                          <a:latin typeface="Avenir Next"/>
                          <a:ea typeface="Avenir Next"/>
                          <a:cs typeface="Avenir Next"/>
                        </a:rPr>
                        <a:t>Product response</a:t>
                      </a:r>
                    </a:p>
                  </a:txBody>
                  <a:tcPr marL="91440" marR="91440" marT="45720" marB="45720" anchor="ctr">
                    <a:solidFill>
                      <a:srgbClr val="173F36"/>
                    </a:solidFill>
                  </a:tcPr>
                </a:tc>
              </a:tr>
              <a:tr h="476250">
                <a:tc>
                  <a:txBody>
                    <a:bodyPr lIns="171450" tIns="123825" rIns="171450" bIns="123825"/>
                    <a:lstStyle/>
                    <a:p>
                      <a:r>
                        <a:rPr sz="1500" b="0">
                          <a:solidFill>
                            <a:srgbClr val="173F36"/>
                          </a:solidFill>
                          <a:latin typeface="Avenir Next"/>
                          <a:ea typeface="Avenir Next"/>
                          <a:cs typeface="Avenir Next"/>
                        </a:rPr>
                        <a:t>Limited time after a visit</a:t>
                      </a:r>
                    </a:p>
                  </a:txBody>
                  <a:tcPr marL="91440" marR="91440" marT="45720" marB="45720" anchor="ctr">
                    <a:solidFill>
                      <a:srgbClr val="F7F5EF"/>
                    </a:solidFill>
                  </a:tcPr>
                </a:tc>
                <a:tc>
                  <a:txBody>
                    <a:bodyPr lIns="171450" tIns="123825" rIns="171450" bIns="123825"/>
                    <a:lstStyle/>
                    <a:p>
                      <a:r>
                        <a:rPr sz="1500" b="0">
                          <a:solidFill>
                            <a:srgbClr val="173F36"/>
                          </a:solidFill>
                          <a:latin typeface="Avenir Next"/>
                          <a:ea typeface="Avenir Next"/>
                          <a:cs typeface="Avenir Next"/>
                        </a:rPr>
                        <a:t>A few notes and one coaching priority</a:t>
                      </a:r>
                    </a:p>
                  </a:txBody>
                  <a:tcPr marL="91440" marR="91440" marT="45720" marB="45720" anchor="ctr">
                    <a:solidFill>
                      <a:srgbClr val="F7F5EF"/>
                    </a:solidFill>
                  </a:tcPr>
                </a:tc>
              </a:tr>
              <a:tr h="476250">
                <a:tc>
                  <a:txBody>
                    <a:bodyPr lIns="171450" tIns="123825" rIns="171450" bIns="123825"/>
                    <a:lstStyle/>
                    <a:p>
                      <a:r>
                        <a:rPr sz="1500" b="0">
                          <a:solidFill>
                            <a:srgbClr val="173F36"/>
                          </a:solidFill>
                          <a:latin typeface="Avenir Next"/>
                          <a:ea typeface="Avenir Next"/>
                          <a:cs typeface="Avenir Next"/>
                        </a:rPr>
                        <a:t>Hindi or another local language</a:t>
                      </a:r>
                    </a:p>
                  </a:txBody>
                  <a:tcPr marL="91440" marR="91440" marT="45720" marB="45720" anchor="ctr">
                    <a:solidFill>
                      <a:srgbClr val="F7F5EF"/>
                    </a:solidFill>
                  </a:tcPr>
                </a:tc>
                <a:tc>
                  <a:txBody>
                    <a:bodyPr lIns="171450" tIns="123825" rIns="171450" bIns="123825"/>
                    <a:lstStyle/>
                    <a:p>
                      <a:r>
                        <a:rPr sz="1500" b="0">
                          <a:solidFill>
                            <a:srgbClr val="173F36"/>
                          </a:solidFill>
                          <a:latin typeface="Avenir Next"/>
                          <a:ea typeface="Avenir Next"/>
                          <a:cs typeface="Avenir Next"/>
                        </a:rPr>
                        <a:t>Hindi / English first; review the transcript</a:t>
                      </a:r>
                    </a:p>
                  </a:txBody>
                  <a:tcPr marL="91440" marR="91440" marT="45720" marB="45720" anchor="ctr">
                    <a:solidFill>
                      <a:srgbClr val="F7F5EF"/>
                    </a:solidFill>
                  </a:tcPr>
                </a:tc>
              </a:tr>
              <a:tr h="476250">
                <a:tc>
                  <a:txBody>
                    <a:bodyPr lIns="171450" tIns="123825" rIns="171450" bIns="123825"/>
                    <a:lstStyle/>
                    <a:p>
                      <a:r>
                        <a:rPr sz="1500" b="0">
                          <a:solidFill>
                            <a:srgbClr val="173F36"/>
                          </a:solidFill>
                          <a:latin typeface="Avenir Next"/>
                          <a:ea typeface="Avenir Next"/>
                          <a:cs typeface="Avenir Next"/>
                        </a:rPr>
                        <a:t>Intermittent connectivity</a:t>
                      </a:r>
                    </a:p>
                  </a:txBody>
                  <a:tcPr marL="91440" marR="91440" marT="45720" marB="45720" anchor="ctr">
                    <a:solidFill>
                      <a:srgbClr val="F7F5EF"/>
                    </a:solidFill>
                  </a:tcPr>
                </a:tc>
                <a:tc>
                  <a:txBody>
                    <a:bodyPr lIns="171450" tIns="123825" rIns="171450" bIns="123825"/>
                    <a:lstStyle/>
                    <a:p>
                      <a:r>
                        <a:rPr sz="1500" b="0">
                          <a:solidFill>
                            <a:srgbClr val="173F36"/>
                          </a:solidFill>
                          <a:latin typeface="Avenir Next"/>
                          <a:ea typeface="Avenir Next"/>
                          <a:cs typeface="Avenir Next"/>
                        </a:rPr>
                        <a:t>Device-local drafts; AI waits for connection</a:t>
                      </a:r>
                    </a:p>
                  </a:txBody>
                  <a:tcPr marL="91440" marR="91440" marT="45720" marB="45720" anchor="ctr">
                    <a:solidFill>
                      <a:srgbClr val="F7F5EF"/>
                    </a:solidFill>
                  </a:tcPr>
                </a:tc>
              </a:tr>
              <a:tr h="476250">
                <a:tc>
                  <a:txBody>
                    <a:bodyPr lIns="171450" tIns="123825" rIns="171450" bIns="123825"/>
                    <a:lstStyle/>
                    <a:p>
                      <a:r>
                        <a:rPr sz="1500" b="0">
                          <a:solidFill>
                            <a:srgbClr val="173F36"/>
                          </a:solidFill>
                          <a:latin typeface="Avenir Next"/>
                          <a:ea typeface="Avenir Next"/>
                          <a:cs typeface="Avenir Next"/>
                        </a:rPr>
                        <a:t>Trust and sensitive classroom data</a:t>
                      </a:r>
                    </a:p>
                  </a:txBody>
                  <a:tcPr marL="91440" marR="91440" marT="45720" marB="45720" anchor="ctr">
                    <a:solidFill>
                      <a:srgbClr val="F7F5EF"/>
                    </a:solidFill>
                  </a:tcPr>
                </a:tc>
                <a:tc>
                  <a:txBody>
                    <a:bodyPr lIns="171450" tIns="123825" rIns="171450" bIns="123825"/>
                    <a:lstStyle/>
                    <a:p>
                      <a:r>
                        <a:rPr sz="1500" b="0">
                          <a:solidFill>
                            <a:srgbClr val="173F36"/>
                          </a:solidFill>
                          <a:latin typeface="Avenir Next"/>
                          <a:ea typeface="Avenir Next"/>
                          <a:cs typeface="Avenir Next"/>
                        </a:rPr>
                        <a:t>Mentor notes, no continuous child recording</a:t>
                      </a:r>
                    </a:p>
                  </a:txBody>
                  <a:tcPr marL="91440" marR="91440" marT="45720" marB="45720" anchor="ctr">
                    <a:solidFill>
                      <a:srgbClr val="F7F5EF"/>
                    </a:solidFill>
                  </a:tcPr>
                </a:tc>
              </a:tr>
            </a:tbl>
          </a:graphicData>
        </a:graphic>
      </p:graphicFrame>
    </p:spTree>
    <p:extLst>
      <p:ext uri="{BB962C8B-B14F-4D97-AF65-F5344CB8AC3E}">
        <p14:creationId xmlns:p14="http://schemas.microsoft.com/office/powerpoint/2010/main" val="653453732"/>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6" name="text-44">
            <a:extLst xmlns:a="http://schemas.openxmlformats.org/drawingml/2006/main">
              <a:ext uri="{FF2B5EF4-FFF2-40B4-BE49-F238E27FC236}">
                <a16:creationId xmlns:a16="http://schemas.microsoft.com/office/drawing/2014/main" id="{593C9AE1-8A43-4714-8649-AF3A7A075EC9}"/>
              </a:ext>
            </a:extLst>
          </p:cNvPr>
          <p:cNvSpPr>
            <a:spLocks xmlns:a="http://schemas.openxmlformats.org/drawingml/2006/main" noGrp="1"/>
          </p:cNvSpPr>
          <p:nvPr/>
        </p:nvSpPr>
        <p:spPr>
          <a:xfrm xmlns:a="http://schemas.openxmlformats.org/drawingml/2006/main">
            <a:off x="609600" y="35242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75" b="1">
                <a:solidFill>
                  <a:srgbClr val="BE653F"/>
                </a:solidFill>
                <a:latin typeface="Avenir Next"/>
                <a:ea typeface="Avenir Next"/>
                <a:cs typeface="Avenir Next"/>
              </a:defRPr>
            </a:pPr>
            <a:r>
              <a:rPr sz="975" b="1">
                <a:solidFill>
                  <a:srgbClr val="BE653F"/>
                </a:solidFill>
                <a:latin typeface="Avenir Next"/>
                <a:ea typeface="Avenir Next"/>
                <a:cs typeface="Avenir Next"/>
              </a:rPr>
              <a:t>05 / USER JOURNEY</a:t>
            </a:r>
          </a:p>
        </p:txBody>
      </p:sp>
      <p:sp>
        <p:nvSpPr>
          <p:cNvPr id="2" name="text-45">
            <a:extLst xmlns:a="http://schemas.openxmlformats.org/drawingml/2006/main">
              <a:ext uri="{FF2B5EF4-FFF2-40B4-BE49-F238E27FC236}">
                <a16:creationId xmlns:a16="http://schemas.microsoft.com/office/drawing/2014/main" id="{952BFF20-FC73-441A-B230-52FC79131592}"/>
              </a:ext>
            </a:extLst>
          </p:cNvPr>
          <p:cNvSpPr>
            <a:spLocks xmlns:a="http://schemas.openxmlformats.org/drawingml/2006/main" noGrp="1"/>
          </p:cNvSpPr>
          <p:nvPr/>
        </p:nvSpPr>
        <p:spPr>
          <a:xfrm xmlns:a="http://schemas.openxmlformats.org/drawingml/2006/main">
            <a:off x="609600" y="800100"/>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75" b="1">
                <a:solidFill>
                  <a:srgbClr val="173F36"/>
                </a:solidFill>
                <a:latin typeface="Avenir Next"/>
                <a:ea typeface="Avenir Next"/>
                <a:cs typeface="Avenir Next"/>
              </a:defRPr>
            </a:pPr>
            <a:r>
              <a:rPr sz="3375" b="1">
                <a:solidFill>
                  <a:srgbClr val="173F36"/>
                </a:solidFill>
                <a:latin typeface="Avenir Next"/>
                <a:ea typeface="Avenir Next"/>
                <a:cs typeface="Avenir Next"/>
              </a:rPr>
              <a:t>A complete loop around one teaching practice</a:t>
            </a:r>
          </a:p>
        </p:txBody>
      </p:sp>
      <p:sp>
        <p:nvSpPr>
          <p:cNvPr id="3" name="text-46">
            <a:extLst xmlns:a="http://schemas.openxmlformats.org/drawingml/2006/main">
              <a:ext uri="{FF2B5EF4-FFF2-40B4-BE49-F238E27FC236}">
                <a16:creationId xmlns:a16="http://schemas.microsoft.com/office/drawing/2014/main" id="{5F69A767-9A3A-4B33-98F2-60167EE204E5}"/>
              </a:ext>
            </a:extLst>
          </p:cNvPr>
          <p:cNvSpPr>
            <a:spLocks xmlns:a="http://schemas.openxmlformats.org/drawingml/2006/main" noGrp="1"/>
          </p:cNvSpPr>
          <p:nvPr/>
        </p:nvSpPr>
        <p:spPr>
          <a:xfrm xmlns:a="http://schemas.openxmlformats.org/drawingml/2006/main">
            <a:off x="609600" y="6448425"/>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825" b="1">
                <a:solidFill>
                  <a:srgbClr val="84917F"/>
                </a:solidFill>
                <a:latin typeface="Avenir Next"/>
                <a:ea typeface="Avenir Next"/>
                <a:cs typeface="Avenir Next"/>
              </a:defRPr>
            </a:pPr>
            <a:r>
              <a:rPr sz="825" b="1">
                <a:solidFill>
                  <a:srgbClr val="84917F"/>
                </a:solidFill>
                <a:latin typeface="Avenir Next"/>
                <a:ea typeface="Avenir Next"/>
                <a:cs typeface="Avenir Next"/>
              </a:rPr>
              <a:t>SAKSHAM AI</a:t>
            </a:r>
          </a:p>
        </p:txBody>
      </p:sp>
      <p:sp>
        <p:nvSpPr>
          <p:cNvPr id="4" name="text-47">
            <a:extLst xmlns:a="http://schemas.openxmlformats.org/drawingml/2006/main">
              <a:ext uri="{FF2B5EF4-FFF2-40B4-BE49-F238E27FC236}">
                <a16:creationId xmlns:a16="http://schemas.microsoft.com/office/drawing/2014/main" id="{196A8866-25E9-42D1-91DA-26F47D44DD8A}"/>
              </a:ext>
            </a:extLst>
          </p:cNvPr>
          <p:cNvSpPr>
            <a:spLocks xmlns:a="http://schemas.openxmlformats.org/drawingml/2006/main" noGrp="1"/>
          </p:cNvSpPr>
          <p:nvPr/>
        </p:nvSpPr>
        <p:spPr>
          <a:xfrm xmlns:a="http://schemas.openxmlformats.org/drawingml/2006/main">
            <a:off x="11239500" y="6438900"/>
            <a:ext cx="3429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00" b="0">
                <a:solidFill>
                  <a:srgbClr val="84917F"/>
                </a:solidFill>
                <a:latin typeface="Avenir Next"/>
                <a:ea typeface="Avenir Next"/>
                <a:cs typeface="Avenir Next"/>
              </a:defRPr>
            </a:pPr>
            <a:r>
              <a:rPr sz="900" b="0">
                <a:solidFill>
                  <a:srgbClr val="84917F"/>
                </a:solidFill>
                <a:latin typeface="Avenir Next"/>
                <a:ea typeface="Avenir Next"/>
                <a:cs typeface="Avenir Next"/>
              </a:rPr>
              <a:t>05</a:t>
            </a:r>
          </a:p>
        </p:txBody>
      </p:sp>
      <p:sp>
        <p:nvSpPr>
          <p:cNvPr id="5" name="text-48">
            <a:extLst xmlns:a="http://schemas.openxmlformats.org/drawingml/2006/main">
              <a:ext uri="{FF2B5EF4-FFF2-40B4-BE49-F238E27FC236}">
                <a16:creationId xmlns:a16="http://schemas.microsoft.com/office/drawing/2014/main" id="{ED58BFFB-8DB6-4454-80C0-394EA5A07837}"/>
              </a:ext>
            </a:extLst>
          </p:cNvPr>
          <p:cNvSpPr>
            <a:spLocks xmlns:a="http://schemas.openxmlformats.org/drawingml/2006/main" noGrp="1"/>
          </p:cNvSpPr>
          <p:nvPr/>
        </p:nvSpPr>
        <p:spPr>
          <a:xfrm xmlns:a="http://schemas.openxmlformats.org/drawingml/2006/main">
            <a:off x="2266950" y="6429375"/>
            <a:ext cx="8743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825" b="0">
                <a:solidFill>
                  <a:srgbClr val="7B8675"/>
                </a:solidFill>
                <a:latin typeface="Avenir Next"/>
                <a:ea typeface="Avenir Next"/>
                <a:cs typeface="Avenir Next"/>
              </a:defRPr>
            </a:pPr>
            <a:r>
              <a:rPr sz="825" b="0">
                <a:solidFill>
                  <a:srgbClr val="7B8675"/>
                </a:solidFill>
                <a:latin typeface="Avenir Next"/>
                <a:ea typeface="Avenir Next"/>
                <a:cs typeface="Avenir Next"/>
              </a:rPr>
              <a:t>Illustrative Grade 2 scenario. A 14-day revisit is a proposed cadence, to be agreed locally; it is not an impact result.</a:t>
            </a:r>
          </a:p>
        </p:txBody>
      </p:sp>
      <p:sp>
        <p:nvSpPr>
          <p:cNvPr id="6" name="">
            <a:extLst xmlns:a="http://schemas.openxmlformats.org/drawingml/2006/main">
              <a:ext uri="{FF2B5EF4-FFF2-40B4-BE49-F238E27FC236}">
                <a16:creationId xmlns:a16="http://schemas.microsoft.com/office/drawing/2014/main" id="{DDF93A7F-1396-425C-A9C5-079EE24291B0}"/>
              </a:ext>
            </a:extLst>
          </p:cNvPr>
          <p:cNvSpPr>
            <a:spLocks xmlns:a="http://schemas.openxmlformats.org/drawingml/2006/main" noGrp="1"/>
          </p:cNvSpPr>
          <p:nvPr/>
        </p:nvSpPr>
        <p:spPr>
          <a:xfrm xmlns:a="http://schemas.openxmlformats.org/drawingml/2006/main">
            <a:off x="609600" y="2076450"/>
            <a:ext cx="2057400" cy="609600"/>
          </a:xfrm>
          <a:prstGeom xmlns:a="http://schemas.openxmlformats.org/drawingml/2006/main" prst="rect">
            <a:avLst/>
          </a:prstGeom>
          <a:solidFill xmlns:a="http://schemas.openxmlformats.org/drawingml/2006/main">
            <a:srgbClr val="E7EDDA"/>
          </a:solidFill>
          <a:ln xmlns:a="http://schemas.openxmlformats.org/drawingml/2006/main" w="9525">
            <a:solidFill>
              <a:srgbClr val="CAD7BC"/>
            </a:solidFill>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00" b="1">
                <a:solidFill>
                  <a:srgbClr val="173F36"/>
                </a:solidFill>
                <a:latin typeface="Avenir Next"/>
                <a:ea typeface="Avenir Next"/>
                <a:cs typeface="Avenir Next"/>
              </a:defRPr>
            </a:pPr>
            <a:r>
              <a:rPr sz="1800" b="1">
                <a:solidFill>
                  <a:srgbClr val="173F36"/>
                </a:solidFill>
                <a:latin typeface="Avenir Next"/>
                <a:ea typeface="Avenir Next"/>
                <a:cs typeface="Avenir Next"/>
              </a:rPr>
              <a:t>Prepare</a:t>
            </a:r>
          </a:p>
        </p:txBody>
      </p:sp>
      <p:sp>
        <p:nvSpPr>
          <p:cNvPr id="7" name="text-49">
            <a:extLst xmlns:a="http://schemas.openxmlformats.org/drawingml/2006/main">
              <a:ext uri="{FF2B5EF4-FFF2-40B4-BE49-F238E27FC236}">
                <a16:creationId xmlns:a16="http://schemas.microsoft.com/office/drawing/2014/main" id="{72486358-AB28-4E39-A486-05929F0FF7A0}"/>
              </a:ext>
            </a:extLst>
          </p:cNvPr>
          <p:cNvSpPr>
            <a:spLocks xmlns:a="http://schemas.openxmlformats.org/drawingml/2006/main" noGrp="1"/>
          </p:cNvSpPr>
          <p:nvPr/>
        </p:nvSpPr>
        <p:spPr>
          <a:xfrm xmlns:a="http://schemas.openxmlformats.org/drawingml/2006/main">
            <a:off x="609600" y="2895600"/>
            <a:ext cx="20574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69776B"/>
                </a:solidFill>
                <a:latin typeface="Avenir Next"/>
                <a:ea typeface="Avenir Next"/>
                <a:cs typeface="Avenir Next"/>
              </a:defRPr>
            </a:pPr>
            <a:r>
              <a:rPr sz="1575" b="0">
                <a:solidFill>
                  <a:srgbClr val="69776B"/>
                </a:solidFill>
                <a:latin typeface="Avenir Next"/>
                <a:ea typeface="Avenir Next"/>
                <a:cs typeface="Avenir Next"/>
              </a:rPr>
              <a:t>Review the last</a:t>
            </a:r>
          </a:p>
          <a:p xmlns:a="http://schemas.openxmlformats.org/drawingml/2006/main">
            <a:pPr algn="l">
              <a:defRPr sz="1575" b="0">
                <a:solidFill>
                  <a:srgbClr val="69776B"/>
                </a:solidFill>
                <a:latin typeface="Avenir Next"/>
                <a:ea typeface="Avenir Next"/>
                <a:cs typeface="Avenir Next"/>
              </a:defRPr>
            </a:pPr>
            <a:r>
              <a:rPr sz="1575" b="0">
                <a:solidFill>
                  <a:srgbClr val="69776B"/>
                </a:solidFill>
                <a:latin typeface="Avenir Next"/>
                <a:ea typeface="Avenir Next"/>
                <a:cs typeface="Avenir Next"/>
              </a:rPr>
              <a:t>agreed practice</a:t>
            </a:r>
          </a:p>
        </p:txBody>
      </p:sp>
      <p:sp>
        <p:nvSpPr>
          <p:cNvPr id="8" name="">
            <a:extLst xmlns:a="http://schemas.openxmlformats.org/drawingml/2006/main">
              <a:ext uri="{FF2B5EF4-FFF2-40B4-BE49-F238E27FC236}">
                <a16:creationId xmlns:a16="http://schemas.microsoft.com/office/drawing/2014/main" id="{C1491086-0114-4E0F-A6D5-047CEC8507A1}"/>
              </a:ext>
            </a:extLst>
          </p:cNvPr>
          <p:cNvSpPr>
            <a:spLocks xmlns:a="http://schemas.openxmlformats.org/drawingml/2006/main" noGrp="1"/>
          </p:cNvSpPr>
          <p:nvPr/>
        </p:nvSpPr>
        <p:spPr>
          <a:xfrm xmlns:a="http://schemas.openxmlformats.org/drawingml/2006/main">
            <a:off x="2838450" y="2076450"/>
            <a:ext cx="2057400" cy="609600"/>
          </a:xfrm>
          <a:prstGeom xmlns:a="http://schemas.openxmlformats.org/drawingml/2006/main" prst="rect">
            <a:avLst/>
          </a:prstGeom>
          <a:solidFill xmlns:a="http://schemas.openxmlformats.org/drawingml/2006/main">
            <a:srgbClr val="E7EDDA"/>
          </a:solidFill>
          <a:ln xmlns:a="http://schemas.openxmlformats.org/drawingml/2006/main" w="9525">
            <a:solidFill>
              <a:srgbClr val="CAD7BC"/>
            </a:solidFill>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00" b="1">
                <a:solidFill>
                  <a:srgbClr val="173F36"/>
                </a:solidFill>
                <a:latin typeface="Avenir Next"/>
                <a:ea typeface="Avenir Next"/>
                <a:cs typeface="Avenir Next"/>
              </a:defRPr>
            </a:pPr>
            <a:r>
              <a:rPr sz="1800" b="1">
                <a:solidFill>
                  <a:srgbClr val="173F36"/>
                </a:solidFill>
                <a:latin typeface="Avenir Next"/>
                <a:ea typeface="Avenir Next"/>
                <a:cs typeface="Avenir Next"/>
              </a:rPr>
              <a:t>Observe</a:t>
            </a:r>
          </a:p>
        </p:txBody>
      </p:sp>
      <p:cxnSp>
        <p:nvCxnSpPr>
          <p:cNvPr id="34" name=""/>
          <p:cNvCxnSpPr>
            <a:stCxn xmlns:a="http://schemas.openxmlformats.org/drawingml/2006/main" id="6" idx="3"/>
            <a:endCxn xmlns:a="http://schemas.openxmlformats.org/drawingml/2006/main" id="8" idx="1"/>
          </p:cNvCxnSpPr>
          <p:nvPr/>
        </p:nvCxnSpPr>
        <p:spPr>
          <a:xfrm xmlns:a="http://schemas.openxmlformats.org/drawingml/2006/main">
            <a:off x="2667000" y="2381250"/>
            <a:ext cx="171450" cy="0"/>
          </a:xfrm>
          <a:prstGeom xmlns:a="http://schemas.openxmlformats.org/drawingml/2006/main" prst="straightConnector1">
            <a:avLst/>
          </a:prstGeom>
          <a:ln xmlns:a="http://schemas.openxmlformats.org/drawingml/2006/main" w="19050">
            <a:solidFill>
              <a:srgbClr val="8C9C7F"/>
            </a:solidFill>
            <a:tailEnd type="triangle" w="sm" len="sm"/>
          </a:ln>
        </p:spPr>
      </p:cxnSp>
      <p:sp>
        <p:nvSpPr>
          <p:cNvPr id="10" name="text-50">
            <a:extLst xmlns:a="http://schemas.openxmlformats.org/drawingml/2006/main">
              <a:ext uri="{FF2B5EF4-FFF2-40B4-BE49-F238E27FC236}">
                <a16:creationId xmlns:a16="http://schemas.microsoft.com/office/drawing/2014/main" id="{8D35FBEB-36A6-4895-97B8-5E728B7ED411}"/>
              </a:ext>
            </a:extLst>
          </p:cNvPr>
          <p:cNvSpPr>
            <a:spLocks xmlns:a="http://schemas.openxmlformats.org/drawingml/2006/main" noGrp="1"/>
          </p:cNvSpPr>
          <p:nvPr/>
        </p:nvSpPr>
        <p:spPr>
          <a:xfrm xmlns:a="http://schemas.openxmlformats.org/drawingml/2006/main">
            <a:off x="2838450" y="2895600"/>
            <a:ext cx="20574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69776B"/>
                </a:solidFill>
                <a:latin typeface="Avenir Next"/>
                <a:ea typeface="Avenir Next"/>
                <a:cs typeface="Avenir Next"/>
              </a:defRPr>
            </a:pPr>
            <a:r>
              <a:rPr sz="1575" b="0">
                <a:solidFill>
                  <a:srgbClr val="69776B"/>
                </a:solidFill>
                <a:latin typeface="Avenir Next"/>
                <a:ea typeface="Avenir Next"/>
                <a:cs typeface="Avenir Next"/>
              </a:rPr>
              <a:t>Capture short</a:t>
            </a:r>
          </a:p>
          <a:p xmlns:a="http://schemas.openxmlformats.org/drawingml/2006/main">
            <a:pPr algn="l">
              <a:defRPr sz="1575" b="0">
                <a:solidFill>
                  <a:srgbClr val="69776B"/>
                </a:solidFill>
                <a:latin typeface="Avenir Next"/>
                <a:ea typeface="Avenir Next"/>
                <a:cs typeface="Avenir Next"/>
              </a:defRPr>
            </a:pPr>
            <a:r>
              <a:rPr sz="1575" b="0">
                <a:solidFill>
                  <a:srgbClr val="69776B"/>
                </a:solidFill>
                <a:latin typeface="Avenir Next"/>
                <a:ea typeface="Avenir Next"/>
                <a:cs typeface="Avenir Next"/>
              </a:rPr>
              <a:t>mentor notes</a:t>
            </a:r>
          </a:p>
        </p:txBody>
      </p:sp>
      <p:sp>
        <p:nvSpPr>
          <p:cNvPr id="11" name="">
            <a:extLst xmlns:a="http://schemas.openxmlformats.org/drawingml/2006/main">
              <a:ext uri="{FF2B5EF4-FFF2-40B4-BE49-F238E27FC236}">
                <a16:creationId xmlns:a16="http://schemas.microsoft.com/office/drawing/2014/main" id="{EA140EF8-07BE-4A63-8885-8B9020D25310}"/>
              </a:ext>
            </a:extLst>
          </p:cNvPr>
          <p:cNvSpPr>
            <a:spLocks xmlns:a="http://schemas.openxmlformats.org/drawingml/2006/main" noGrp="1"/>
          </p:cNvSpPr>
          <p:nvPr/>
        </p:nvSpPr>
        <p:spPr>
          <a:xfrm xmlns:a="http://schemas.openxmlformats.org/drawingml/2006/main">
            <a:off x="5067300" y="2076450"/>
            <a:ext cx="2057400" cy="609600"/>
          </a:xfrm>
          <a:prstGeom xmlns:a="http://schemas.openxmlformats.org/drawingml/2006/main" prst="rect">
            <a:avLst/>
          </a:prstGeom>
          <a:solidFill xmlns:a="http://schemas.openxmlformats.org/drawingml/2006/main">
            <a:srgbClr val="E7EDDA"/>
          </a:solidFill>
          <a:ln xmlns:a="http://schemas.openxmlformats.org/drawingml/2006/main" w="9525">
            <a:solidFill>
              <a:srgbClr val="CAD7BC"/>
            </a:solidFill>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00" b="1">
                <a:solidFill>
                  <a:srgbClr val="173F36"/>
                </a:solidFill>
                <a:latin typeface="Avenir Next"/>
                <a:ea typeface="Avenir Next"/>
                <a:cs typeface="Avenir Next"/>
              </a:defRPr>
            </a:pPr>
            <a:r>
              <a:rPr sz="1800" b="1">
                <a:solidFill>
                  <a:srgbClr val="173F36"/>
                </a:solidFill>
                <a:latin typeface="Avenir Next"/>
                <a:ea typeface="Avenir Next"/>
                <a:cs typeface="Avenir Next"/>
              </a:rPr>
              <a:t>Reflect</a:t>
            </a:r>
          </a:p>
        </p:txBody>
      </p:sp>
      <p:cxnSp>
        <p:nvCxnSpPr>
          <p:cNvPr id="37" name=""/>
          <p:cNvCxnSpPr>
            <a:stCxn xmlns:a="http://schemas.openxmlformats.org/drawingml/2006/main" id="8" idx="3"/>
            <a:endCxn xmlns:a="http://schemas.openxmlformats.org/drawingml/2006/main" id="11" idx="1"/>
          </p:cNvCxnSpPr>
          <p:nvPr/>
        </p:nvCxnSpPr>
        <p:spPr>
          <a:xfrm xmlns:a="http://schemas.openxmlformats.org/drawingml/2006/main">
            <a:off x="4895850" y="2381250"/>
            <a:ext cx="171450" cy="0"/>
          </a:xfrm>
          <a:prstGeom xmlns:a="http://schemas.openxmlformats.org/drawingml/2006/main" prst="straightConnector1">
            <a:avLst/>
          </a:prstGeom>
          <a:ln xmlns:a="http://schemas.openxmlformats.org/drawingml/2006/main" w="19050">
            <a:solidFill>
              <a:srgbClr val="8C9C7F"/>
            </a:solidFill>
            <a:tailEnd type="triangle" w="sm" len="sm"/>
          </a:ln>
        </p:spPr>
      </p:cxnSp>
      <p:sp>
        <p:nvSpPr>
          <p:cNvPr id="13" name="text-51">
            <a:extLst xmlns:a="http://schemas.openxmlformats.org/drawingml/2006/main">
              <a:ext uri="{FF2B5EF4-FFF2-40B4-BE49-F238E27FC236}">
                <a16:creationId xmlns:a16="http://schemas.microsoft.com/office/drawing/2014/main" id="{A6D79C94-6793-4987-B598-E1BCFA2274D8}"/>
              </a:ext>
            </a:extLst>
          </p:cNvPr>
          <p:cNvSpPr>
            <a:spLocks xmlns:a="http://schemas.openxmlformats.org/drawingml/2006/main" noGrp="1"/>
          </p:cNvSpPr>
          <p:nvPr/>
        </p:nvSpPr>
        <p:spPr>
          <a:xfrm xmlns:a="http://schemas.openxmlformats.org/drawingml/2006/main">
            <a:off x="5067300" y="2895600"/>
            <a:ext cx="20574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69776B"/>
                </a:solidFill>
                <a:latin typeface="Avenir Next"/>
                <a:ea typeface="Avenir Next"/>
                <a:cs typeface="Avenir Next"/>
              </a:defRPr>
            </a:pPr>
            <a:r>
              <a:rPr sz="1575" b="0">
                <a:solidFill>
                  <a:srgbClr val="69776B"/>
                </a:solidFill>
                <a:latin typeface="Avenir Next"/>
                <a:ea typeface="Avenir Next"/>
                <a:cs typeface="Avenir Next"/>
              </a:rPr>
              <a:t>Check evidence</a:t>
            </a:r>
          </a:p>
          <a:p xmlns:a="http://schemas.openxmlformats.org/drawingml/2006/main">
            <a:pPr algn="l">
              <a:defRPr sz="1575" b="0">
                <a:solidFill>
                  <a:srgbClr val="69776B"/>
                </a:solidFill>
                <a:latin typeface="Avenir Next"/>
                <a:ea typeface="Avenir Next"/>
                <a:cs typeface="Avenir Next"/>
              </a:defRPr>
            </a:pPr>
            <a:r>
              <a:rPr sz="1575" b="0">
                <a:solidFill>
                  <a:srgbClr val="69776B"/>
                </a:solidFill>
                <a:latin typeface="Avenir Next"/>
                <a:ea typeface="Avenir Next"/>
                <a:cs typeface="Avenir Next"/>
              </a:rPr>
              <a:t>and one next step</a:t>
            </a:r>
          </a:p>
        </p:txBody>
      </p:sp>
      <p:sp>
        <p:nvSpPr>
          <p:cNvPr id="14" name="">
            <a:extLst xmlns:a="http://schemas.openxmlformats.org/drawingml/2006/main">
              <a:ext uri="{FF2B5EF4-FFF2-40B4-BE49-F238E27FC236}">
                <a16:creationId xmlns:a16="http://schemas.microsoft.com/office/drawing/2014/main" id="{2C3AF644-DE18-48D1-9DDD-7EE055556623}"/>
              </a:ext>
            </a:extLst>
          </p:cNvPr>
          <p:cNvSpPr>
            <a:spLocks xmlns:a="http://schemas.openxmlformats.org/drawingml/2006/main" noGrp="1"/>
          </p:cNvSpPr>
          <p:nvPr/>
        </p:nvSpPr>
        <p:spPr>
          <a:xfrm xmlns:a="http://schemas.openxmlformats.org/drawingml/2006/main">
            <a:off x="7296150" y="2076450"/>
            <a:ext cx="2057400" cy="609600"/>
          </a:xfrm>
          <a:prstGeom xmlns:a="http://schemas.openxmlformats.org/drawingml/2006/main" prst="rect">
            <a:avLst/>
          </a:prstGeom>
          <a:solidFill xmlns:a="http://schemas.openxmlformats.org/drawingml/2006/main">
            <a:srgbClr val="E7EDDA"/>
          </a:solidFill>
          <a:ln xmlns:a="http://schemas.openxmlformats.org/drawingml/2006/main" w="9525">
            <a:solidFill>
              <a:srgbClr val="CAD7BC"/>
            </a:solidFill>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00" b="1">
                <a:solidFill>
                  <a:srgbClr val="173F36"/>
                </a:solidFill>
                <a:latin typeface="Avenir Next"/>
                <a:ea typeface="Avenir Next"/>
                <a:cs typeface="Avenir Next"/>
              </a:defRPr>
            </a:pPr>
            <a:r>
              <a:rPr sz="1800" b="1">
                <a:solidFill>
                  <a:srgbClr val="173F36"/>
                </a:solidFill>
                <a:latin typeface="Avenir Next"/>
                <a:ea typeface="Avenir Next"/>
                <a:cs typeface="Avenir Next"/>
              </a:rPr>
              <a:t>Rehearse</a:t>
            </a:r>
          </a:p>
        </p:txBody>
      </p:sp>
      <p:cxnSp>
        <p:nvCxnSpPr>
          <p:cNvPr id="40" name=""/>
          <p:cNvCxnSpPr>
            <a:stCxn xmlns:a="http://schemas.openxmlformats.org/drawingml/2006/main" id="11" idx="3"/>
            <a:endCxn xmlns:a="http://schemas.openxmlformats.org/drawingml/2006/main" id="14" idx="1"/>
          </p:cNvCxnSpPr>
          <p:nvPr/>
        </p:nvCxnSpPr>
        <p:spPr>
          <a:xfrm xmlns:a="http://schemas.openxmlformats.org/drawingml/2006/main">
            <a:off x="7124700" y="2381250"/>
            <a:ext cx="171450" cy="0"/>
          </a:xfrm>
          <a:prstGeom xmlns:a="http://schemas.openxmlformats.org/drawingml/2006/main" prst="straightConnector1">
            <a:avLst/>
          </a:prstGeom>
          <a:ln xmlns:a="http://schemas.openxmlformats.org/drawingml/2006/main" w="19050">
            <a:solidFill>
              <a:srgbClr val="8C9C7F"/>
            </a:solidFill>
            <a:tailEnd type="triangle" w="sm" len="sm"/>
          </a:ln>
        </p:spPr>
      </p:cxnSp>
      <p:sp>
        <p:nvSpPr>
          <p:cNvPr id="16" name="text-52">
            <a:extLst xmlns:a="http://schemas.openxmlformats.org/drawingml/2006/main">
              <a:ext uri="{FF2B5EF4-FFF2-40B4-BE49-F238E27FC236}">
                <a16:creationId xmlns:a16="http://schemas.microsoft.com/office/drawing/2014/main" id="{9EFC2A66-F382-4F64-B590-65F0DBD911EA}"/>
              </a:ext>
            </a:extLst>
          </p:cNvPr>
          <p:cNvSpPr>
            <a:spLocks xmlns:a="http://schemas.openxmlformats.org/drawingml/2006/main" noGrp="1"/>
          </p:cNvSpPr>
          <p:nvPr/>
        </p:nvSpPr>
        <p:spPr>
          <a:xfrm xmlns:a="http://schemas.openxmlformats.org/drawingml/2006/main">
            <a:off x="7296150" y="2895600"/>
            <a:ext cx="20574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69776B"/>
                </a:solidFill>
                <a:latin typeface="Avenir Next"/>
                <a:ea typeface="Avenir Next"/>
                <a:cs typeface="Avenir Next"/>
              </a:defRPr>
            </a:pPr>
            <a:r>
              <a:rPr sz="1575" b="0">
                <a:solidFill>
                  <a:srgbClr val="69776B"/>
                </a:solidFill>
                <a:latin typeface="Avenir Next"/>
                <a:ea typeface="Avenir Next"/>
                <a:cs typeface="Avenir Next"/>
              </a:rPr>
              <a:t>Practise the</a:t>
            </a:r>
          </a:p>
          <a:p xmlns:a="http://schemas.openxmlformats.org/drawingml/2006/main">
            <a:pPr algn="l">
              <a:defRPr sz="1575" b="0">
                <a:solidFill>
                  <a:srgbClr val="69776B"/>
                </a:solidFill>
                <a:latin typeface="Avenir Next"/>
                <a:ea typeface="Avenir Next"/>
                <a:cs typeface="Avenir Next"/>
              </a:defRPr>
            </a:pPr>
            <a:r>
              <a:rPr sz="1575" b="0">
                <a:solidFill>
                  <a:srgbClr val="69776B"/>
                </a:solidFill>
                <a:latin typeface="Avenir Next"/>
                <a:ea typeface="Avenir Next"/>
                <a:cs typeface="Avenir Next"/>
              </a:rPr>
              <a:t>conversation</a:t>
            </a:r>
          </a:p>
        </p:txBody>
      </p:sp>
      <p:sp>
        <p:nvSpPr>
          <p:cNvPr id="17" name="">
            <a:extLst xmlns:a="http://schemas.openxmlformats.org/drawingml/2006/main">
              <a:ext uri="{FF2B5EF4-FFF2-40B4-BE49-F238E27FC236}">
                <a16:creationId xmlns:a16="http://schemas.microsoft.com/office/drawing/2014/main" id="{07992A89-16C4-4BBB-8E12-09FB539D3E5D}"/>
              </a:ext>
            </a:extLst>
          </p:cNvPr>
          <p:cNvSpPr>
            <a:spLocks xmlns:a="http://schemas.openxmlformats.org/drawingml/2006/main" noGrp="1"/>
          </p:cNvSpPr>
          <p:nvPr/>
        </p:nvSpPr>
        <p:spPr>
          <a:xfrm xmlns:a="http://schemas.openxmlformats.org/drawingml/2006/main">
            <a:off x="9525000" y="2076450"/>
            <a:ext cx="2057400" cy="609600"/>
          </a:xfrm>
          <a:prstGeom xmlns:a="http://schemas.openxmlformats.org/drawingml/2006/main" prst="rect">
            <a:avLst/>
          </a:prstGeom>
          <a:solidFill xmlns:a="http://schemas.openxmlformats.org/drawingml/2006/main">
            <a:srgbClr val="E7EDDA"/>
          </a:solidFill>
          <a:ln xmlns:a="http://schemas.openxmlformats.org/drawingml/2006/main" w="9525">
            <a:solidFill>
              <a:srgbClr val="CAD7BC"/>
            </a:solidFill>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00" b="1">
                <a:solidFill>
                  <a:srgbClr val="173F36"/>
                </a:solidFill>
                <a:latin typeface="Avenir Next"/>
                <a:ea typeface="Avenir Next"/>
                <a:cs typeface="Avenir Next"/>
              </a:defRPr>
            </a:pPr>
            <a:r>
              <a:rPr sz="1800" b="1">
                <a:solidFill>
                  <a:srgbClr val="173F36"/>
                </a:solidFill>
                <a:latin typeface="Avenir Next"/>
                <a:ea typeface="Avenir Next"/>
                <a:cs typeface="Avenir Next"/>
              </a:rPr>
              <a:t>Commit</a:t>
            </a:r>
          </a:p>
        </p:txBody>
      </p:sp>
      <p:cxnSp>
        <p:nvCxnSpPr>
          <p:cNvPr id="43" name=""/>
          <p:cNvCxnSpPr>
            <a:stCxn xmlns:a="http://schemas.openxmlformats.org/drawingml/2006/main" id="14" idx="3"/>
            <a:endCxn xmlns:a="http://schemas.openxmlformats.org/drawingml/2006/main" id="17" idx="1"/>
          </p:cNvCxnSpPr>
          <p:nvPr/>
        </p:nvCxnSpPr>
        <p:spPr>
          <a:xfrm xmlns:a="http://schemas.openxmlformats.org/drawingml/2006/main">
            <a:off x="9353550" y="2381250"/>
            <a:ext cx="171450" cy="0"/>
          </a:xfrm>
          <a:prstGeom xmlns:a="http://schemas.openxmlformats.org/drawingml/2006/main" prst="straightConnector1">
            <a:avLst/>
          </a:prstGeom>
          <a:ln xmlns:a="http://schemas.openxmlformats.org/drawingml/2006/main" w="19050">
            <a:solidFill>
              <a:srgbClr val="8C9C7F"/>
            </a:solidFill>
            <a:tailEnd type="triangle" w="sm" len="sm"/>
          </a:ln>
        </p:spPr>
      </p:cxnSp>
      <p:sp>
        <p:nvSpPr>
          <p:cNvPr id="19" name="text-53">
            <a:extLst xmlns:a="http://schemas.openxmlformats.org/drawingml/2006/main">
              <a:ext uri="{FF2B5EF4-FFF2-40B4-BE49-F238E27FC236}">
                <a16:creationId xmlns:a16="http://schemas.microsoft.com/office/drawing/2014/main" id="{A9FEE915-F069-444F-A632-9B15EE3AF01C}"/>
              </a:ext>
            </a:extLst>
          </p:cNvPr>
          <p:cNvSpPr>
            <a:spLocks xmlns:a="http://schemas.openxmlformats.org/drawingml/2006/main" noGrp="1"/>
          </p:cNvSpPr>
          <p:nvPr/>
        </p:nvSpPr>
        <p:spPr>
          <a:xfrm xmlns:a="http://schemas.openxmlformats.org/drawingml/2006/main">
            <a:off x="9525000" y="2895600"/>
            <a:ext cx="20574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69776B"/>
                </a:solidFill>
                <a:latin typeface="Avenir Next"/>
                <a:ea typeface="Avenir Next"/>
                <a:cs typeface="Avenir Next"/>
              </a:defRPr>
            </a:pPr>
            <a:r>
              <a:rPr sz="1575" b="0">
                <a:solidFill>
                  <a:srgbClr val="69776B"/>
                </a:solidFill>
                <a:latin typeface="Avenir Next"/>
                <a:ea typeface="Avenir Next"/>
                <a:cs typeface="Avenir Next"/>
              </a:rPr>
              <a:t>Agree an action</a:t>
            </a:r>
          </a:p>
          <a:p xmlns:a="http://schemas.openxmlformats.org/drawingml/2006/main">
            <a:pPr algn="l">
              <a:defRPr sz="1575" b="0">
                <a:solidFill>
                  <a:srgbClr val="69776B"/>
                </a:solidFill>
                <a:latin typeface="Avenir Next"/>
                <a:ea typeface="Avenir Next"/>
                <a:cs typeface="Avenir Next"/>
              </a:defRPr>
            </a:pPr>
            <a:r>
              <a:rPr sz="1575" b="0">
                <a:solidFill>
                  <a:srgbClr val="69776B"/>
                </a:solidFill>
                <a:latin typeface="Avenir Next"/>
                <a:ea typeface="Avenir Next"/>
                <a:cs typeface="Avenir Next"/>
              </a:rPr>
              <a:t>and revisit date</a:t>
            </a:r>
          </a:p>
        </p:txBody>
      </p:sp>
      <p:sp>
        <p:nvSpPr>
          <p:cNvPr id="20" name="">
            <a:extLst xmlns:a="http://schemas.openxmlformats.org/drawingml/2006/main">
              <a:ext uri="{FF2B5EF4-FFF2-40B4-BE49-F238E27FC236}">
                <a16:creationId xmlns:a16="http://schemas.microsoft.com/office/drawing/2014/main" id="{6EE71267-2293-4642-8899-0CA3C8FD7E89}"/>
              </a:ext>
            </a:extLst>
          </p:cNvPr>
          <p:cNvSpPr>
            <a:spLocks xmlns:a="http://schemas.openxmlformats.org/drawingml/2006/main" noGrp="1"/>
          </p:cNvSpPr>
          <p:nvPr/>
        </p:nvSpPr>
        <p:spPr>
          <a:xfrm xmlns:a="http://schemas.openxmlformats.org/drawingml/2006/main">
            <a:off x="609600" y="3905250"/>
            <a:ext cx="10972800" cy="9525"/>
          </a:xfrm>
          <a:prstGeom xmlns:a="http://schemas.openxmlformats.org/drawingml/2006/main" prst="rect">
            <a:avLst/>
          </a:prstGeom>
          <a:solidFill xmlns:a="http://schemas.openxmlformats.org/drawingml/2006/main">
            <a:srgbClr val="D9DED1"/>
          </a:solidFill>
          <a:ln xmlns:a="http://schemas.openxmlformats.org/drawingml/2006/main" w="0">
            <a:noFill/>
          </a:ln>
        </p:spPr>
      </p:sp>
      <p:sp>
        <p:nvSpPr>
          <p:cNvPr id="21" name="text-54">
            <a:extLst xmlns:a="http://schemas.openxmlformats.org/drawingml/2006/main">
              <a:ext uri="{FF2B5EF4-FFF2-40B4-BE49-F238E27FC236}">
                <a16:creationId xmlns:a16="http://schemas.microsoft.com/office/drawing/2014/main" id="{56BC84B3-46C3-4E50-9906-89C694614A73}"/>
              </a:ext>
            </a:extLst>
          </p:cNvPr>
          <p:cNvSpPr>
            <a:spLocks xmlns:a="http://schemas.openxmlformats.org/drawingml/2006/main" noGrp="1"/>
          </p:cNvSpPr>
          <p:nvPr/>
        </p:nvSpPr>
        <p:spPr>
          <a:xfrm xmlns:a="http://schemas.openxmlformats.org/drawingml/2006/main">
            <a:off x="609600" y="4295775"/>
            <a:ext cx="3905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73F36"/>
                </a:solidFill>
                <a:latin typeface="Avenir Next"/>
                <a:ea typeface="Avenir Next"/>
                <a:cs typeface="Avenir Next"/>
              </a:defRPr>
            </a:pPr>
            <a:r>
              <a:rPr sz="2550" b="1">
                <a:solidFill>
                  <a:srgbClr val="173F36"/>
                </a:solidFill>
                <a:latin typeface="Avenir Next"/>
                <a:ea typeface="Avenir Next"/>
                <a:cs typeface="Avenir Next"/>
              </a:rPr>
              <a:t>At the next visit</a:t>
            </a:r>
          </a:p>
        </p:txBody>
      </p:sp>
      <p:sp>
        <p:nvSpPr>
          <p:cNvPr id="22" name="text-55">
            <a:extLst xmlns:a="http://schemas.openxmlformats.org/drawingml/2006/main">
              <a:ext uri="{FF2B5EF4-FFF2-40B4-BE49-F238E27FC236}">
                <a16:creationId xmlns:a16="http://schemas.microsoft.com/office/drawing/2014/main" id="{0BA7630F-42B2-4E31-B777-F1C0B21F38CE}"/>
              </a:ext>
            </a:extLst>
          </p:cNvPr>
          <p:cNvSpPr>
            <a:spLocks xmlns:a="http://schemas.openxmlformats.org/drawingml/2006/main" noGrp="1"/>
          </p:cNvSpPr>
          <p:nvPr/>
        </p:nvSpPr>
        <p:spPr>
          <a:xfrm xmlns:a="http://schemas.openxmlformats.org/drawingml/2006/main">
            <a:off x="609600" y="4943475"/>
            <a:ext cx="44577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69776B"/>
                </a:solidFill>
                <a:latin typeface="Avenir Next"/>
                <a:ea typeface="Avenir Next"/>
                <a:cs typeface="Avenir Next"/>
              </a:defRPr>
            </a:pPr>
            <a:r>
              <a:rPr sz="2025" b="0">
                <a:solidFill>
                  <a:srgbClr val="69776B"/>
                </a:solidFill>
                <a:latin typeface="Avenir Next"/>
                <a:ea typeface="Avenir Next"/>
                <a:cs typeface="Avenir Next"/>
              </a:rPr>
              <a:t>“Did more children respond?</a:t>
            </a:r>
          </a:p>
          <a:p xmlns:a="http://schemas.openxmlformats.org/drawingml/2006/main">
            <a:pPr algn="l">
              <a:defRPr sz="2025" b="0">
                <a:solidFill>
                  <a:srgbClr val="69776B"/>
                </a:solidFill>
                <a:latin typeface="Avenir Next"/>
                <a:ea typeface="Avenir Next"/>
                <a:cs typeface="Avenir Next"/>
              </a:defRPr>
            </a:pPr>
            <a:r>
              <a:rPr sz="2025" b="0">
                <a:solidFill>
                  <a:srgbClr val="69776B"/>
                </a:solidFill>
                <a:latin typeface="Avenir Next"/>
                <a:ea typeface="Avenir Next"/>
                <a:cs typeface="Avenir Next"/>
              </a:rPr>
              <a:t>What did the teacher change</a:t>
            </a:r>
          </a:p>
          <a:p xmlns:a="http://schemas.openxmlformats.org/drawingml/2006/main">
            <a:pPr algn="l">
              <a:defRPr sz="2025" b="0">
                <a:solidFill>
                  <a:srgbClr val="69776B"/>
                </a:solidFill>
                <a:latin typeface="Avenir Next"/>
                <a:ea typeface="Avenir Next"/>
                <a:cs typeface="Avenir Next"/>
              </a:defRPr>
            </a:pPr>
            <a:r>
              <a:rPr sz="2025" b="0">
                <a:solidFill>
                  <a:srgbClr val="69776B"/>
                </a:solidFill>
                <a:latin typeface="Avenir Next"/>
                <a:ea typeface="Avenir Next"/>
                <a:cs typeface="Avenir Next"/>
              </a:rPr>
              <a:t>after seeing their answers?”</a:t>
            </a:r>
          </a:p>
        </p:txBody>
      </p:sp>
      <p:sp>
        <p:nvSpPr>
          <p:cNvPr id="23" name="text-56">
            <a:extLst xmlns:a="http://schemas.openxmlformats.org/drawingml/2006/main">
              <a:ext uri="{FF2B5EF4-FFF2-40B4-BE49-F238E27FC236}">
                <a16:creationId xmlns:a16="http://schemas.microsoft.com/office/drawing/2014/main" id="{CE782EE0-BC10-4CF8-B47D-BD293B031AD2}"/>
              </a:ext>
            </a:extLst>
          </p:cNvPr>
          <p:cNvSpPr>
            <a:spLocks xmlns:a="http://schemas.openxmlformats.org/drawingml/2006/main" noGrp="1"/>
          </p:cNvSpPr>
          <p:nvPr/>
        </p:nvSpPr>
        <p:spPr>
          <a:xfrm xmlns:a="http://schemas.openxmlformats.org/drawingml/2006/main">
            <a:off x="6572250" y="4295775"/>
            <a:ext cx="5010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75" b="1">
                <a:solidFill>
                  <a:srgbClr val="BE653F"/>
                </a:solidFill>
                <a:latin typeface="Avenir Next"/>
                <a:ea typeface="Avenir Next"/>
                <a:cs typeface="Avenir Next"/>
              </a:defRPr>
            </a:pPr>
            <a:r>
              <a:rPr sz="975" b="1">
                <a:solidFill>
                  <a:srgbClr val="BE653F"/>
                </a:solidFill>
                <a:latin typeface="Avenir Next"/>
                <a:ea typeface="Avenir Next"/>
                <a:cs typeface="Avenir Next"/>
              </a:rPr>
              <a:t>THE AGREED PRACTICE</a:t>
            </a:r>
          </a:p>
        </p:txBody>
      </p:sp>
      <p:sp>
        <p:nvSpPr>
          <p:cNvPr id="24" name="text-57">
            <a:extLst xmlns:a="http://schemas.openxmlformats.org/drawingml/2006/main">
              <a:ext uri="{FF2B5EF4-FFF2-40B4-BE49-F238E27FC236}">
                <a16:creationId xmlns:a16="http://schemas.microsoft.com/office/drawing/2014/main" id="{E475B431-E59C-4CCB-A0C8-B8862AC94EC2}"/>
              </a:ext>
            </a:extLst>
          </p:cNvPr>
          <p:cNvSpPr>
            <a:spLocks xmlns:a="http://schemas.openxmlformats.org/drawingml/2006/main" noGrp="1"/>
          </p:cNvSpPr>
          <p:nvPr/>
        </p:nvSpPr>
        <p:spPr>
          <a:xfrm xmlns:a="http://schemas.openxmlformats.org/drawingml/2006/main">
            <a:off x="6572250" y="4695825"/>
            <a:ext cx="4857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3F36"/>
                </a:solidFill>
                <a:latin typeface="Avenir Next"/>
                <a:ea typeface="Avenir Next"/>
                <a:cs typeface="Avenir Next"/>
              </a:defRPr>
            </a:pPr>
            <a:r>
              <a:rPr sz="2175" b="1">
                <a:solidFill>
                  <a:srgbClr val="173F36"/>
                </a:solidFill>
                <a:latin typeface="Avenir Next"/>
                <a:ea typeface="Avenir Next"/>
                <a:cs typeface="Avenir Next"/>
              </a:rPr>
              <a:t>After a worked example, every child writes an answer on a slate.</a:t>
            </a:r>
          </a:p>
        </p:txBody>
      </p:sp>
      <p:sp>
        <p:nvSpPr>
          <p:cNvPr id="25" name="text-58">
            <a:extLst xmlns:a="http://schemas.openxmlformats.org/drawingml/2006/main">
              <a:ext uri="{FF2B5EF4-FFF2-40B4-BE49-F238E27FC236}">
                <a16:creationId xmlns:a16="http://schemas.microsoft.com/office/drawing/2014/main" id="{C7311382-F6BF-470D-82B6-E0563D595557}"/>
              </a:ext>
            </a:extLst>
          </p:cNvPr>
          <p:cNvSpPr>
            <a:spLocks xmlns:a="http://schemas.openxmlformats.org/drawingml/2006/main" noGrp="1"/>
          </p:cNvSpPr>
          <p:nvPr/>
        </p:nvSpPr>
        <p:spPr>
          <a:xfrm xmlns:a="http://schemas.openxmlformats.org/drawingml/2006/main">
            <a:off x="6572250" y="5810250"/>
            <a:ext cx="4933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69776B"/>
                </a:solidFill>
                <a:latin typeface="Avenir Next"/>
                <a:ea typeface="Avenir Next"/>
                <a:cs typeface="Avenir Next"/>
              </a:defRPr>
            </a:pPr>
            <a:r>
              <a:rPr sz="1500" b="0">
                <a:solidFill>
                  <a:srgbClr val="69776B"/>
                </a:solidFill>
                <a:latin typeface="Avenir Next"/>
                <a:ea typeface="Avenir Next"/>
                <a:cs typeface="Avenir Next"/>
              </a:rPr>
              <a:t>Mentor: co-plan the task and revisit in 14 days.</a:t>
            </a:r>
          </a:p>
        </p:txBody>
      </p:sp>
    </p:spTree>
    <p:extLst>
      <p:ext uri="{BB962C8B-B14F-4D97-AF65-F5344CB8AC3E}">
        <p14:creationId xmlns:p14="http://schemas.microsoft.com/office/powerpoint/2010/main" val="6486641"/>
      </p:ext>
    </p:extLst>
  </p:cSld>
</p:sld>
</file>

<file path=ppt/slides/slide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 name="text-59">
            <a:extLst xmlns:a="http://schemas.openxmlformats.org/drawingml/2006/main">
              <a:ext uri="{FF2B5EF4-FFF2-40B4-BE49-F238E27FC236}">
                <a16:creationId xmlns:a16="http://schemas.microsoft.com/office/drawing/2014/main" id="{E134CD73-76B8-43B8-8CD8-527A9586CAAD}"/>
              </a:ext>
            </a:extLst>
          </p:cNvPr>
          <p:cNvSpPr>
            <a:spLocks xmlns:a="http://schemas.openxmlformats.org/drawingml/2006/main" noGrp="1"/>
          </p:cNvSpPr>
          <p:nvPr/>
        </p:nvSpPr>
        <p:spPr>
          <a:xfrm xmlns:a="http://schemas.openxmlformats.org/drawingml/2006/main">
            <a:off x="609600" y="35242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75" b="1">
                <a:solidFill>
                  <a:srgbClr val="BE653F"/>
                </a:solidFill>
                <a:latin typeface="Avenir Next"/>
                <a:ea typeface="Avenir Next"/>
                <a:cs typeface="Avenir Next"/>
              </a:defRPr>
            </a:pPr>
            <a:r>
              <a:rPr sz="975" b="1">
                <a:solidFill>
                  <a:srgbClr val="BE653F"/>
                </a:solidFill>
                <a:latin typeface="Avenir Next"/>
                <a:ea typeface="Avenir Next"/>
                <a:cs typeface="Avenir Next"/>
              </a:rPr>
              <a:t>06 / INNOVATION AND DIFFERENTIATION</a:t>
            </a:r>
          </a:p>
        </p:txBody>
      </p:sp>
      <p:sp>
        <p:nvSpPr>
          <p:cNvPr id="2" name="text-60">
            <a:extLst xmlns:a="http://schemas.openxmlformats.org/drawingml/2006/main">
              <a:ext uri="{FF2B5EF4-FFF2-40B4-BE49-F238E27FC236}">
                <a16:creationId xmlns:a16="http://schemas.microsoft.com/office/drawing/2014/main" id="{247EA679-BE49-42A8-8776-B1859D4A1659}"/>
              </a:ext>
            </a:extLst>
          </p:cNvPr>
          <p:cNvSpPr>
            <a:spLocks xmlns:a="http://schemas.openxmlformats.org/drawingml/2006/main" noGrp="1"/>
          </p:cNvSpPr>
          <p:nvPr/>
        </p:nvSpPr>
        <p:spPr>
          <a:xfrm xmlns:a="http://schemas.openxmlformats.org/drawingml/2006/main">
            <a:off x="609600" y="800100"/>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75" b="1">
                <a:solidFill>
                  <a:srgbClr val="173F36"/>
                </a:solidFill>
                <a:latin typeface="Avenir Next"/>
                <a:ea typeface="Avenir Next"/>
                <a:cs typeface="Avenir Next"/>
              </a:defRPr>
            </a:pPr>
            <a:r>
              <a:rPr sz="3375" b="1">
                <a:solidFill>
                  <a:srgbClr val="173F36"/>
                </a:solidFill>
                <a:latin typeface="Avenir Next"/>
                <a:ea typeface="Avenir Next"/>
                <a:cs typeface="Avenir Next"/>
              </a:rPr>
              <a:t>A distinct CRP workflow within an existing field</a:t>
            </a:r>
          </a:p>
        </p:txBody>
      </p:sp>
      <p:sp>
        <p:nvSpPr>
          <p:cNvPr id="3" name="text-61">
            <a:extLst xmlns:a="http://schemas.openxmlformats.org/drawingml/2006/main">
              <a:ext uri="{FF2B5EF4-FFF2-40B4-BE49-F238E27FC236}">
                <a16:creationId xmlns:a16="http://schemas.microsoft.com/office/drawing/2014/main" id="{1114620E-B0A9-4C0D-B9FA-B1901F66C53B}"/>
              </a:ext>
            </a:extLst>
          </p:cNvPr>
          <p:cNvSpPr>
            <a:spLocks xmlns:a="http://schemas.openxmlformats.org/drawingml/2006/main" noGrp="1"/>
          </p:cNvSpPr>
          <p:nvPr/>
        </p:nvSpPr>
        <p:spPr>
          <a:xfrm xmlns:a="http://schemas.openxmlformats.org/drawingml/2006/main">
            <a:off x="609600" y="6448425"/>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825" b="1">
                <a:solidFill>
                  <a:srgbClr val="84917F"/>
                </a:solidFill>
                <a:latin typeface="Avenir Next"/>
                <a:ea typeface="Avenir Next"/>
                <a:cs typeface="Avenir Next"/>
              </a:defRPr>
            </a:pPr>
            <a:r>
              <a:rPr sz="825" b="1">
                <a:solidFill>
                  <a:srgbClr val="84917F"/>
                </a:solidFill>
                <a:latin typeface="Avenir Next"/>
                <a:ea typeface="Avenir Next"/>
                <a:cs typeface="Avenir Next"/>
              </a:rPr>
              <a:t>SAKSHAM AI</a:t>
            </a:r>
          </a:p>
        </p:txBody>
      </p:sp>
      <p:sp>
        <p:nvSpPr>
          <p:cNvPr id="4" name="text-62">
            <a:extLst xmlns:a="http://schemas.openxmlformats.org/drawingml/2006/main">
              <a:ext uri="{FF2B5EF4-FFF2-40B4-BE49-F238E27FC236}">
                <a16:creationId xmlns:a16="http://schemas.microsoft.com/office/drawing/2014/main" id="{C1EB070D-BC65-4BDF-B8A2-3063A51CE908}"/>
              </a:ext>
            </a:extLst>
          </p:cNvPr>
          <p:cNvSpPr>
            <a:spLocks xmlns:a="http://schemas.openxmlformats.org/drawingml/2006/main" noGrp="1"/>
          </p:cNvSpPr>
          <p:nvPr/>
        </p:nvSpPr>
        <p:spPr>
          <a:xfrm xmlns:a="http://schemas.openxmlformats.org/drawingml/2006/main">
            <a:off x="11239500" y="6438900"/>
            <a:ext cx="3429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00" b="0">
                <a:solidFill>
                  <a:srgbClr val="84917F"/>
                </a:solidFill>
                <a:latin typeface="Avenir Next"/>
                <a:ea typeface="Avenir Next"/>
                <a:cs typeface="Avenir Next"/>
              </a:defRPr>
            </a:pPr>
            <a:r>
              <a:rPr sz="900" b="0">
                <a:solidFill>
                  <a:srgbClr val="84917F"/>
                </a:solidFill>
                <a:latin typeface="Avenir Next"/>
                <a:ea typeface="Avenir Next"/>
                <a:cs typeface="Avenir Next"/>
              </a:rPr>
              <a:t>06</a:t>
            </a:r>
          </a:p>
        </p:txBody>
      </p:sp>
      <p:sp>
        <p:nvSpPr>
          <p:cNvPr id="5" name="text-63">
            <a:extLst xmlns:a="http://schemas.openxmlformats.org/drawingml/2006/main">
              <a:ext uri="{FF2B5EF4-FFF2-40B4-BE49-F238E27FC236}">
                <a16:creationId xmlns:a16="http://schemas.microsoft.com/office/drawing/2014/main" id="{28F5BC36-9A17-4A04-B41C-5E4621B2B9D2}"/>
              </a:ext>
            </a:extLst>
          </p:cNvPr>
          <p:cNvSpPr>
            <a:spLocks xmlns:a="http://schemas.openxmlformats.org/drawingml/2006/main" noGrp="1"/>
          </p:cNvSpPr>
          <p:nvPr/>
        </p:nvSpPr>
        <p:spPr>
          <a:xfrm xmlns:a="http://schemas.openxmlformats.org/drawingml/2006/main">
            <a:off x="2266950" y="6429375"/>
            <a:ext cx="8743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825" b="0">
                <a:solidFill>
                  <a:srgbClr val="7B8675"/>
                </a:solidFill>
                <a:latin typeface="Avenir Next"/>
                <a:ea typeface="Avenir Next"/>
                <a:cs typeface="Avenir Next"/>
              </a:defRPr>
            </a:pPr>
            <a:r>
              <a:rPr sz="825" b="0">
                <a:solidFill>
                  <a:srgbClr val="7B8675"/>
                </a:solidFill>
                <a:latin typeface="Avenir Next"/>
                <a:ea typeface="Avenir Next"/>
                <a:cs typeface="Avenir Next"/>
              </a:rPr>
              <a:t>Sources: TeachFX, Mursion and NCERT/DIKSHA public product pages. Comparison of stated focus, not an exhaustive feature audit.</a:t>
            </a:r>
          </a:p>
        </p:txBody>
      </p:sp>
      <p:graphicFrame>
        <p:nvGraphicFramePr>
          <p:cNvPr id="14" name=""/>
          <p:cNvGraphicFramePr/>
          <p:nvPr/>
        </p:nvGraphicFramePr>
        <p:xfrm>
          <a:off xmlns:a="http://schemas.openxmlformats.org/drawingml/2006/main" x="609600" y="2076450"/>
          <a:ext xmlns:a="http://schemas.openxmlformats.org/drawingml/2006/main" cx="10972800" cy="3067050"/>
        </p:xfrm>
        <a:graphic xmlns:a="http://schemas.openxmlformats.org/drawingml/2006/main">
          <a:graphicData uri="http://schemas.openxmlformats.org/drawingml/2006/table">
            <a:tbl>
              <a:tblPr/>
              <a:tblGrid>
                <a:gridCol w="2038350"/>
                <a:gridCol w="3867150"/>
                <a:gridCol w="5067300"/>
              </a:tblGrid>
              <a:tr h="766763">
                <a:tc>
                  <a:txBody>
                    <a:bodyPr lIns="171450" tIns="123825" rIns="171450" bIns="123825"/>
                    <a:lstStyle/>
                    <a:p>
                      <a:r>
                        <a:rPr sz="1200" b="1">
                          <a:solidFill>
                            <a:srgbClr val="FFFFFF"/>
                          </a:solidFill>
                          <a:latin typeface="Avenir Next"/>
                          <a:ea typeface="Avenir Next"/>
                          <a:cs typeface="Avenir Next"/>
                        </a:rPr>
                        <a:t>Approach</a:t>
                      </a:r>
                    </a:p>
                  </a:txBody>
                  <a:tcPr marL="91440" marR="91440" marT="45720" marB="45720" anchor="ctr">
                    <a:solidFill>
                      <a:srgbClr val="173F36"/>
                    </a:solidFill>
                  </a:tcPr>
                </a:tc>
                <a:tc>
                  <a:txBody>
                    <a:bodyPr lIns="171450" tIns="123825" rIns="171450" bIns="123825"/>
                    <a:lstStyle/>
                    <a:p>
                      <a:r>
                        <a:rPr sz="1200" b="1">
                          <a:solidFill>
                            <a:srgbClr val="FFFFFF"/>
                          </a:solidFill>
                          <a:latin typeface="Avenir Next"/>
                          <a:ea typeface="Avenir Next"/>
                          <a:cs typeface="Avenir Next"/>
                        </a:rPr>
                        <a:t>Published focus</a:t>
                      </a:r>
                    </a:p>
                  </a:txBody>
                  <a:tcPr marL="91440" marR="91440" marT="45720" marB="45720" anchor="ctr">
                    <a:solidFill>
                      <a:srgbClr val="173F36"/>
                    </a:solidFill>
                  </a:tcPr>
                </a:tc>
                <a:tc>
                  <a:txBody>
                    <a:bodyPr lIns="171450" tIns="123825" rIns="171450" bIns="123825"/>
                    <a:lstStyle/>
                    <a:p>
                      <a:r>
                        <a:rPr sz="1200" b="1">
                          <a:solidFill>
                            <a:srgbClr val="FFFFFF"/>
                          </a:solidFill>
                          <a:latin typeface="Avenir Next"/>
                          <a:ea typeface="Avenir Next"/>
                          <a:cs typeface="Avenir Next"/>
                        </a:rPr>
                        <a:t>Saksham’s proposed contribution</a:t>
                      </a:r>
                    </a:p>
                  </a:txBody>
                  <a:tcPr marL="91440" marR="91440" marT="45720" marB="45720" anchor="ctr">
                    <a:solidFill>
                      <a:srgbClr val="173F36"/>
                    </a:solidFill>
                  </a:tcPr>
                </a:tc>
              </a:tr>
              <a:tr h="766763">
                <a:tc>
                  <a:txBody>
                    <a:bodyPr lIns="171450" tIns="123825" rIns="171450" bIns="123825"/>
                    <a:lstStyle/>
                    <a:p>
                      <a:r>
                        <a:rPr sz="1650" b="0">
                          <a:solidFill>
                            <a:srgbClr val="173F36"/>
                          </a:solidFill>
                          <a:latin typeface="Avenir Next"/>
                          <a:ea typeface="Avenir Next"/>
                          <a:cs typeface="Avenir Next"/>
                        </a:rPr>
                        <a:t>TeachFX</a:t>
                      </a:r>
                    </a:p>
                  </a:txBody>
                  <a:tcPr marL="91440" marR="91440" marT="45720" marB="45720" anchor="ctr">
                    <a:solidFill>
                      <a:srgbClr val="F7F5EF"/>
                    </a:solidFill>
                  </a:tcPr>
                </a:tc>
                <a:tc>
                  <a:txBody>
                    <a:bodyPr lIns="171450" tIns="123825" rIns="171450" bIns="123825"/>
                    <a:lstStyle/>
                    <a:p>
                      <a:r>
                        <a:rPr sz="1650" b="0">
                          <a:solidFill>
                            <a:srgbClr val="173F36"/>
                          </a:solidFill>
                          <a:latin typeface="Avenir Next"/>
                          <a:ea typeface="Avenir Next"/>
                          <a:cs typeface="Avenir Next"/>
                        </a:rPr>
                        <a:t>Lesson-audio analysis and teacher reflection</a:t>
                      </a:r>
                    </a:p>
                  </a:txBody>
                  <a:tcPr marL="91440" marR="91440" marT="45720" marB="45720" anchor="ctr">
                    <a:solidFill>
                      <a:srgbClr val="F7F5EF"/>
                    </a:solidFill>
                  </a:tcPr>
                </a:tc>
                <a:tc>
                  <a:txBody>
                    <a:bodyPr lIns="171450" tIns="123825" rIns="171450" bIns="123825"/>
                    <a:lstStyle/>
                    <a:p>
                      <a:r>
                        <a:rPr sz="1650" b="0">
                          <a:solidFill>
                            <a:srgbClr val="173F36"/>
                          </a:solidFill>
                          <a:latin typeface="Avenir Next"/>
                          <a:ea typeface="Avenir Next"/>
                          <a:cs typeface="Avenir Next"/>
                        </a:rPr>
                        <a:t>Mentor-authored field evidence, without requiring full-lesson audio</a:t>
                      </a:r>
                    </a:p>
                  </a:txBody>
                  <a:tcPr marL="91440" marR="91440" marT="45720" marB="45720" anchor="ctr">
                    <a:solidFill>
                      <a:srgbClr val="F7F5EF"/>
                    </a:solidFill>
                  </a:tcPr>
                </a:tc>
              </a:tr>
              <a:tr h="766763">
                <a:tc>
                  <a:txBody>
                    <a:bodyPr lIns="171450" tIns="123825" rIns="171450" bIns="123825"/>
                    <a:lstStyle/>
                    <a:p>
                      <a:r>
                        <a:rPr sz="1650" b="0">
                          <a:solidFill>
                            <a:srgbClr val="173F36"/>
                          </a:solidFill>
                          <a:latin typeface="Avenir Next"/>
                          <a:ea typeface="Avenir Next"/>
                          <a:cs typeface="Avenir Next"/>
                        </a:rPr>
                        <a:t>Mursion</a:t>
                      </a:r>
                    </a:p>
                  </a:txBody>
                  <a:tcPr marL="91440" marR="91440" marT="45720" marB="45720" anchor="ctr">
                    <a:solidFill>
                      <a:srgbClr val="F7F5EF"/>
                    </a:solidFill>
                  </a:tcPr>
                </a:tc>
                <a:tc>
                  <a:txBody>
                    <a:bodyPr lIns="171450" tIns="123825" rIns="171450" bIns="123825"/>
                    <a:lstStyle/>
                    <a:p>
                      <a:r>
                        <a:rPr sz="1650" b="0">
                          <a:solidFill>
                            <a:srgbClr val="173F36"/>
                          </a:solidFill>
                          <a:latin typeface="Avenir Next"/>
                          <a:ea typeface="Avenir Next"/>
                          <a:cs typeface="Avenir Next"/>
                        </a:rPr>
                        <a:t>Simulated conversations for educator skills</a:t>
                      </a:r>
                    </a:p>
                  </a:txBody>
                  <a:tcPr marL="91440" marR="91440" marT="45720" marB="45720" anchor="ctr">
                    <a:solidFill>
                      <a:srgbClr val="F7F5EF"/>
                    </a:solidFill>
                  </a:tcPr>
                </a:tc>
                <a:tc>
                  <a:txBody>
                    <a:bodyPr lIns="171450" tIns="123825" rIns="171450" bIns="123825"/>
                    <a:lstStyle/>
                    <a:p>
                      <a:r>
                        <a:rPr sz="1650" b="0">
                          <a:solidFill>
                            <a:srgbClr val="173F36"/>
                          </a:solidFill>
                          <a:latin typeface="Avenir Next"/>
                          <a:ea typeface="Avenir Next"/>
                          <a:cs typeface="Avenir Next"/>
                        </a:rPr>
                        <a:t>Rehearsal anchored to the current FLN observation and agreed action</a:t>
                      </a:r>
                    </a:p>
                  </a:txBody>
                  <a:tcPr marL="91440" marR="91440" marT="45720" marB="45720" anchor="ctr">
                    <a:solidFill>
                      <a:srgbClr val="F7F5EF"/>
                    </a:solidFill>
                  </a:tcPr>
                </a:tc>
              </a:tr>
              <a:tr h="766763">
                <a:tc>
                  <a:txBody>
                    <a:bodyPr lIns="171450" tIns="123825" rIns="171450" bIns="123825"/>
                    <a:lstStyle/>
                    <a:p>
                      <a:r>
                        <a:rPr sz="1650" b="0">
                          <a:solidFill>
                            <a:srgbClr val="173F36"/>
                          </a:solidFill>
                          <a:latin typeface="Avenir Next"/>
                          <a:ea typeface="Avenir Next"/>
                          <a:cs typeface="Avenir Next"/>
                        </a:rPr>
                        <a:t>DIKSHA / NISHTHA</a:t>
                      </a:r>
                    </a:p>
                  </a:txBody>
                  <a:tcPr marL="91440" marR="91440" marT="45720" marB="45720" anchor="ctr">
                    <a:solidFill>
                      <a:srgbClr val="F7F5EF"/>
                    </a:solidFill>
                  </a:tcPr>
                </a:tc>
                <a:tc>
                  <a:txBody>
                    <a:bodyPr lIns="171450" tIns="123825" rIns="171450" bIns="123825"/>
                    <a:lstStyle/>
                    <a:p>
                      <a:r>
                        <a:rPr sz="1650" b="0">
                          <a:solidFill>
                            <a:srgbClr val="173F36"/>
                          </a:solidFill>
                          <a:latin typeface="Avenir Next"/>
                          <a:ea typeface="Avenir Next"/>
                          <a:cs typeface="Avenir Next"/>
                        </a:rPr>
                        <a:t>Teacher professional learning resources</a:t>
                      </a:r>
                    </a:p>
                  </a:txBody>
                  <a:tcPr marL="91440" marR="91440" marT="45720" marB="45720" anchor="ctr">
                    <a:solidFill>
                      <a:srgbClr val="F7F5EF"/>
                    </a:solidFill>
                  </a:tcPr>
                </a:tc>
                <a:tc>
                  <a:txBody>
                    <a:bodyPr lIns="171450" tIns="123825" rIns="171450" bIns="123825"/>
                    <a:lstStyle/>
                    <a:p>
                      <a:r>
                        <a:rPr sz="1650" b="0">
                          <a:solidFill>
                            <a:srgbClr val="173F36"/>
                          </a:solidFill>
                          <a:latin typeface="Avenir Next"/>
                          <a:ea typeface="Avenir Next"/>
                          <a:cs typeface="Avenir Next"/>
                        </a:rPr>
                        <a:t>Relevant resource excerpts at the moment a mentor gives feedback</a:t>
                      </a:r>
                    </a:p>
                  </a:txBody>
                  <a:tcPr marL="91440" marR="91440" marT="45720" marB="45720" anchor="ctr">
                    <a:solidFill>
                      <a:srgbClr val="F7F5EF"/>
                    </a:solidFill>
                  </a:tcPr>
                </a:tc>
              </a:tr>
            </a:tbl>
          </a:graphicData>
        </a:graphic>
      </p:graphicFrame>
      <p:sp>
        <p:nvSpPr>
          <p:cNvPr id="7" name="text-64">
            <a:extLst xmlns:a="http://schemas.openxmlformats.org/drawingml/2006/main">
              <a:ext uri="{FF2B5EF4-FFF2-40B4-BE49-F238E27FC236}">
                <a16:creationId xmlns:a16="http://schemas.microsoft.com/office/drawing/2014/main" id="{BE91694B-FC93-4651-967D-DC1FDEEC63DC}"/>
              </a:ext>
            </a:extLst>
          </p:cNvPr>
          <p:cNvSpPr>
            <a:spLocks xmlns:a="http://schemas.openxmlformats.org/drawingml/2006/main" noGrp="1"/>
          </p:cNvSpPr>
          <p:nvPr/>
        </p:nvSpPr>
        <p:spPr>
          <a:xfrm xmlns:a="http://schemas.openxmlformats.org/drawingml/2006/main">
            <a:off x="609600" y="5457825"/>
            <a:ext cx="3867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BE653F"/>
                </a:solidFill>
                <a:latin typeface="Avenir Next"/>
                <a:ea typeface="Avenir Next"/>
                <a:cs typeface="Avenir Next"/>
              </a:defRPr>
            </a:pPr>
            <a:r>
              <a:rPr sz="1800" b="1">
                <a:solidFill>
                  <a:srgbClr val="BE653F"/>
                </a:solidFill>
                <a:latin typeface="Avenir Next"/>
                <a:ea typeface="Avenir Next"/>
                <a:cs typeface="Avenir Next"/>
              </a:rPr>
              <a:t>Our differentiation hypothesis</a:t>
            </a:r>
          </a:p>
        </p:txBody>
      </p:sp>
      <p:sp>
        <p:nvSpPr>
          <p:cNvPr id="8" name="text-65">
            <a:extLst xmlns:a="http://schemas.openxmlformats.org/drawingml/2006/main">
              <a:ext uri="{FF2B5EF4-FFF2-40B4-BE49-F238E27FC236}">
                <a16:creationId xmlns:a16="http://schemas.microsoft.com/office/drawing/2014/main" id="{D2FA9978-E162-4706-9D6C-B04763BDDB8D}"/>
              </a:ext>
            </a:extLst>
          </p:cNvPr>
          <p:cNvSpPr>
            <a:spLocks xmlns:a="http://schemas.openxmlformats.org/drawingml/2006/main" noGrp="1"/>
          </p:cNvSpPr>
          <p:nvPr/>
        </p:nvSpPr>
        <p:spPr>
          <a:xfrm xmlns:a="http://schemas.openxmlformats.org/drawingml/2006/main">
            <a:off x="4695825" y="5448300"/>
            <a:ext cx="68770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173F36"/>
                </a:solidFill>
                <a:latin typeface="Avenir Next"/>
                <a:ea typeface="Avenir Next"/>
                <a:cs typeface="Avenir Next"/>
              </a:defRPr>
            </a:pPr>
            <a:r>
              <a:rPr sz="2025" b="1">
                <a:solidFill>
                  <a:srgbClr val="173F36"/>
                </a:solidFill>
                <a:latin typeface="Avenir Next"/>
                <a:ea typeface="Avenir Next"/>
                <a:cs typeface="Avenir Next"/>
              </a:rPr>
              <a:t>Hindi-first CRP support that connects evidence, coaching rehearsal and the next classroom visit.</a:t>
            </a:r>
          </a:p>
        </p:txBody>
      </p:sp>
    </p:spTree>
    <p:extLst>
      <p:ext uri="{BB962C8B-B14F-4D97-AF65-F5344CB8AC3E}">
        <p14:creationId xmlns:p14="http://schemas.microsoft.com/office/powerpoint/2010/main" val="1537403897"/>
      </p:ext>
    </p:extLst>
  </p:cSld>
</p:sld>
</file>

<file path=ppt/slides/slide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5" name="text-66">
            <a:extLst xmlns:a="http://schemas.openxmlformats.org/drawingml/2006/main">
              <a:ext uri="{FF2B5EF4-FFF2-40B4-BE49-F238E27FC236}">
                <a16:creationId xmlns:a16="http://schemas.microsoft.com/office/drawing/2014/main" id="{3A151718-09C6-42E2-A261-1F2299C953A5}"/>
              </a:ext>
            </a:extLst>
          </p:cNvPr>
          <p:cNvSpPr>
            <a:spLocks xmlns:a="http://schemas.openxmlformats.org/drawingml/2006/main" noGrp="1"/>
          </p:cNvSpPr>
          <p:nvPr/>
        </p:nvSpPr>
        <p:spPr>
          <a:xfrm xmlns:a="http://schemas.openxmlformats.org/drawingml/2006/main">
            <a:off x="609600" y="35242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75" b="1">
                <a:solidFill>
                  <a:srgbClr val="BE653F"/>
                </a:solidFill>
                <a:latin typeface="Avenir Next"/>
                <a:ea typeface="Avenir Next"/>
                <a:cs typeface="Avenir Next"/>
              </a:defRPr>
            </a:pPr>
            <a:r>
              <a:rPr sz="975" b="1">
                <a:solidFill>
                  <a:srgbClr val="BE653F"/>
                </a:solidFill>
                <a:latin typeface="Avenir Next"/>
                <a:ea typeface="Avenir Next"/>
                <a:cs typeface="Avenir Next"/>
              </a:rPr>
              <a:t>07 / INNOVATION AND TRUST</a:t>
            </a:r>
          </a:p>
        </p:txBody>
      </p:sp>
      <p:sp>
        <p:nvSpPr>
          <p:cNvPr id="2" name="text-67">
            <a:extLst xmlns:a="http://schemas.openxmlformats.org/drawingml/2006/main">
              <a:ext uri="{FF2B5EF4-FFF2-40B4-BE49-F238E27FC236}">
                <a16:creationId xmlns:a16="http://schemas.microsoft.com/office/drawing/2014/main" id="{670201BB-D812-4BF9-8701-FD503C38AB52}"/>
              </a:ext>
            </a:extLst>
          </p:cNvPr>
          <p:cNvSpPr>
            <a:spLocks xmlns:a="http://schemas.openxmlformats.org/drawingml/2006/main" noGrp="1"/>
          </p:cNvSpPr>
          <p:nvPr/>
        </p:nvSpPr>
        <p:spPr>
          <a:xfrm xmlns:a="http://schemas.openxmlformats.org/drawingml/2006/main">
            <a:off x="609600" y="800100"/>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75" b="1">
                <a:solidFill>
                  <a:srgbClr val="173F36"/>
                </a:solidFill>
                <a:latin typeface="Avenir Next"/>
                <a:ea typeface="Avenir Next"/>
                <a:cs typeface="Avenir Next"/>
              </a:defRPr>
            </a:pPr>
            <a:r>
              <a:rPr sz="3375" b="1">
                <a:solidFill>
                  <a:srgbClr val="173F36"/>
                </a:solidFill>
                <a:latin typeface="Avenir Next"/>
                <a:ea typeface="Avenir Next"/>
                <a:cs typeface="Avenir Next"/>
              </a:rPr>
              <a:t>Every recommendation has an evidence trail</a:t>
            </a:r>
          </a:p>
        </p:txBody>
      </p:sp>
      <p:sp>
        <p:nvSpPr>
          <p:cNvPr id="3" name="text-68">
            <a:extLst xmlns:a="http://schemas.openxmlformats.org/drawingml/2006/main">
              <a:ext uri="{FF2B5EF4-FFF2-40B4-BE49-F238E27FC236}">
                <a16:creationId xmlns:a16="http://schemas.microsoft.com/office/drawing/2014/main" id="{22C11591-DD50-49AF-A34D-AC34ED2BF766}"/>
              </a:ext>
            </a:extLst>
          </p:cNvPr>
          <p:cNvSpPr>
            <a:spLocks xmlns:a="http://schemas.openxmlformats.org/drawingml/2006/main" noGrp="1"/>
          </p:cNvSpPr>
          <p:nvPr/>
        </p:nvSpPr>
        <p:spPr>
          <a:xfrm xmlns:a="http://schemas.openxmlformats.org/drawingml/2006/main">
            <a:off x="609600" y="6448425"/>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825" b="1">
                <a:solidFill>
                  <a:srgbClr val="84917F"/>
                </a:solidFill>
                <a:latin typeface="Avenir Next"/>
                <a:ea typeface="Avenir Next"/>
                <a:cs typeface="Avenir Next"/>
              </a:defRPr>
            </a:pPr>
            <a:r>
              <a:rPr sz="825" b="1">
                <a:solidFill>
                  <a:srgbClr val="84917F"/>
                </a:solidFill>
                <a:latin typeface="Avenir Next"/>
                <a:ea typeface="Avenir Next"/>
                <a:cs typeface="Avenir Next"/>
              </a:rPr>
              <a:t>SAKSHAM AI</a:t>
            </a:r>
          </a:p>
        </p:txBody>
      </p:sp>
      <p:sp>
        <p:nvSpPr>
          <p:cNvPr id="4" name="text-69">
            <a:extLst xmlns:a="http://schemas.openxmlformats.org/drawingml/2006/main">
              <a:ext uri="{FF2B5EF4-FFF2-40B4-BE49-F238E27FC236}">
                <a16:creationId xmlns:a16="http://schemas.microsoft.com/office/drawing/2014/main" id="{F0B34FEB-9A1C-42AF-9C2A-4CD4E65FCED6}"/>
              </a:ext>
            </a:extLst>
          </p:cNvPr>
          <p:cNvSpPr>
            <a:spLocks xmlns:a="http://schemas.openxmlformats.org/drawingml/2006/main" noGrp="1"/>
          </p:cNvSpPr>
          <p:nvPr/>
        </p:nvSpPr>
        <p:spPr>
          <a:xfrm xmlns:a="http://schemas.openxmlformats.org/drawingml/2006/main">
            <a:off x="11239500" y="6438900"/>
            <a:ext cx="3429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00" b="0">
                <a:solidFill>
                  <a:srgbClr val="84917F"/>
                </a:solidFill>
                <a:latin typeface="Avenir Next"/>
                <a:ea typeface="Avenir Next"/>
                <a:cs typeface="Avenir Next"/>
              </a:defRPr>
            </a:pPr>
            <a:r>
              <a:rPr sz="900" b="0">
                <a:solidFill>
                  <a:srgbClr val="84917F"/>
                </a:solidFill>
                <a:latin typeface="Avenir Next"/>
                <a:ea typeface="Avenir Next"/>
                <a:cs typeface="Avenir Next"/>
              </a:rPr>
              <a:t>07</a:t>
            </a:r>
          </a:p>
        </p:txBody>
      </p:sp>
      <p:sp>
        <p:nvSpPr>
          <p:cNvPr id="5" name="text-70">
            <a:extLst xmlns:a="http://schemas.openxmlformats.org/drawingml/2006/main">
              <a:ext uri="{FF2B5EF4-FFF2-40B4-BE49-F238E27FC236}">
                <a16:creationId xmlns:a16="http://schemas.microsoft.com/office/drawing/2014/main" id="{B6ABB78D-01EC-4EB6-985B-21582E9E654D}"/>
              </a:ext>
            </a:extLst>
          </p:cNvPr>
          <p:cNvSpPr>
            <a:spLocks xmlns:a="http://schemas.openxmlformats.org/drawingml/2006/main" noGrp="1"/>
          </p:cNvSpPr>
          <p:nvPr/>
        </p:nvSpPr>
        <p:spPr>
          <a:xfrm xmlns:a="http://schemas.openxmlformats.org/drawingml/2006/main">
            <a:off x="2266950" y="6429375"/>
            <a:ext cx="8743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825" b="0">
                <a:solidFill>
                  <a:srgbClr val="7B8675"/>
                </a:solidFill>
                <a:latin typeface="Avenir Next"/>
                <a:ea typeface="Avenir Next"/>
                <a:cs typeface="Avenir Next"/>
              </a:defRPr>
            </a:pPr>
            <a:r>
              <a:rPr sz="825" b="0">
                <a:solidFill>
                  <a:srgbClr val="7B8675"/>
                </a:solidFill>
                <a:latin typeface="Avenir Next"/>
                <a:ea typeface="Avenir Next"/>
                <a:cs typeface="Avenir Next"/>
              </a:rPr>
              <a:t>Source principle: NCERT NCF–FS 2022, §6.2.1, pp. 177–178. The suggested activity is a Saksham adaptation.</a:t>
            </a:r>
          </a:p>
        </p:txBody>
      </p:sp>
      <p:sp>
        <p:nvSpPr>
          <p:cNvPr id="6" name="text-71">
            <a:extLst xmlns:a="http://schemas.openxmlformats.org/drawingml/2006/main">
              <a:ext uri="{FF2B5EF4-FFF2-40B4-BE49-F238E27FC236}">
                <a16:creationId xmlns:a16="http://schemas.microsoft.com/office/drawing/2014/main" id="{0F99D9D0-6992-4296-B268-E9DB50A798B1}"/>
              </a:ext>
            </a:extLst>
          </p:cNvPr>
          <p:cNvSpPr>
            <a:spLocks xmlns:a="http://schemas.openxmlformats.org/drawingml/2006/main" noGrp="1"/>
          </p:cNvSpPr>
          <p:nvPr/>
        </p:nvSpPr>
        <p:spPr>
          <a:xfrm xmlns:a="http://schemas.openxmlformats.org/drawingml/2006/main">
            <a:off x="609600" y="2076450"/>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75" b="1">
                <a:solidFill>
                  <a:srgbClr val="BE653F"/>
                </a:solidFill>
                <a:latin typeface="Avenir Next"/>
                <a:ea typeface="Avenir Next"/>
                <a:cs typeface="Avenir Next"/>
              </a:defRPr>
            </a:pPr>
            <a:r>
              <a:rPr sz="975" b="1">
                <a:solidFill>
                  <a:srgbClr val="BE653F"/>
                </a:solidFill>
                <a:latin typeface="Avenir Next"/>
                <a:ea typeface="Avenir Next"/>
                <a:cs typeface="Avenir Next"/>
              </a:rPr>
              <a:t>OBSERVED</a:t>
            </a:r>
          </a:p>
        </p:txBody>
      </p:sp>
      <p:sp>
        <p:nvSpPr>
          <p:cNvPr id="7" name="text-72">
            <a:extLst xmlns:a="http://schemas.openxmlformats.org/drawingml/2006/main">
              <a:ext uri="{FF2B5EF4-FFF2-40B4-BE49-F238E27FC236}">
                <a16:creationId xmlns:a16="http://schemas.microsoft.com/office/drawing/2014/main" id="{87D305F9-C77A-4AFF-BF23-E93BBEFCB295}"/>
              </a:ext>
            </a:extLst>
          </p:cNvPr>
          <p:cNvSpPr>
            <a:spLocks xmlns:a="http://schemas.openxmlformats.org/drawingml/2006/main" noGrp="1"/>
          </p:cNvSpPr>
          <p:nvPr/>
        </p:nvSpPr>
        <p:spPr>
          <a:xfrm xmlns:a="http://schemas.openxmlformats.org/drawingml/2006/main">
            <a:off x="609600" y="2419350"/>
            <a:ext cx="6629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173F36"/>
                </a:solidFill>
                <a:latin typeface="Avenir Next"/>
                <a:ea typeface="Avenir Next"/>
                <a:cs typeface="Avenir Next"/>
              </a:defRPr>
            </a:pPr>
            <a:r>
              <a:rPr sz="2325" b="1">
                <a:solidFill>
                  <a:srgbClr val="173F36"/>
                </a:solidFill>
                <a:latin typeface="Avenir Next"/>
                <a:ea typeface="Avenir Next"/>
                <a:cs typeface="Avenir Next"/>
              </a:rPr>
              <a:t>“The same four children answered.”</a:t>
            </a:r>
          </a:p>
        </p:txBody>
      </p:sp>
      <p:sp>
        <p:nvSpPr>
          <p:cNvPr id="8" name="">
            <a:extLst xmlns:a="http://schemas.openxmlformats.org/drawingml/2006/main">
              <a:ext uri="{FF2B5EF4-FFF2-40B4-BE49-F238E27FC236}">
                <a16:creationId xmlns:a16="http://schemas.microsoft.com/office/drawing/2014/main" id="{217423F6-A01A-4029-8AD7-08D134A5BCFD}"/>
              </a:ext>
            </a:extLst>
          </p:cNvPr>
          <p:cNvSpPr>
            <a:spLocks xmlns:a="http://schemas.openxmlformats.org/drawingml/2006/main" noGrp="1"/>
          </p:cNvSpPr>
          <p:nvPr/>
        </p:nvSpPr>
        <p:spPr>
          <a:xfrm xmlns:a="http://schemas.openxmlformats.org/drawingml/2006/main">
            <a:off x="609600" y="3190875"/>
            <a:ext cx="6334125" cy="9525"/>
          </a:xfrm>
          <a:prstGeom xmlns:a="http://schemas.openxmlformats.org/drawingml/2006/main" prst="rect">
            <a:avLst/>
          </a:prstGeom>
          <a:solidFill xmlns:a="http://schemas.openxmlformats.org/drawingml/2006/main">
            <a:srgbClr val="D9DED1"/>
          </a:solidFill>
          <a:ln xmlns:a="http://schemas.openxmlformats.org/drawingml/2006/main" w="0">
            <a:noFill/>
          </a:ln>
        </p:spPr>
      </p:sp>
      <p:sp>
        <p:nvSpPr>
          <p:cNvPr id="9" name="text-73">
            <a:extLst xmlns:a="http://schemas.openxmlformats.org/drawingml/2006/main">
              <a:ext uri="{FF2B5EF4-FFF2-40B4-BE49-F238E27FC236}">
                <a16:creationId xmlns:a16="http://schemas.microsoft.com/office/drawing/2014/main" id="{CD133F6D-87B4-4D5E-A6CD-0E966C57DA94}"/>
              </a:ext>
            </a:extLst>
          </p:cNvPr>
          <p:cNvSpPr>
            <a:spLocks xmlns:a="http://schemas.openxmlformats.org/drawingml/2006/main" noGrp="1"/>
          </p:cNvSpPr>
          <p:nvPr/>
        </p:nvSpPr>
        <p:spPr>
          <a:xfrm xmlns:a="http://schemas.openxmlformats.org/drawingml/2006/main">
            <a:off x="609600" y="3438525"/>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75" b="1">
                <a:solidFill>
                  <a:srgbClr val="BE653F"/>
                </a:solidFill>
                <a:latin typeface="Avenir Next"/>
                <a:ea typeface="Avenir Next"/>
                <a:cs typeface="Avenir Next"/>
              </a:defRPr>
            </a:pPr>
            <a:r>
              <a:rPr sz="975" b="1">
                <a:solidFill>
                  <a:srgbClr val="BE653F"/>
                </a:solidFill>
                <a:latin typeface="Avenir Next"/>
                <a:ea typeface="Avenir Next"/>
                <a:cs typeface="Avenir Next"/>
              </a:rPr>
              <a:t>INFERRED</a:t>
            </a:r>
          </a:p>
        </p:txBody>
      </p:sp>
      <p:sp>
        <p:nvSpPr>
          <p:cNvPr id="10" name="text-74">
            <a:extLst xmlns:a="http://schemas.openxmlformats.org/drawingml/2006/main">
              <a:ext uri="{FF2B5EF4-FFF2-40B4-BE49-F238E27FC236}">
                <a16:creationId xmlns:a16="http://schemas.microsoft.com/office/drawing/2014/main" id="{A33D63F3-FC7E-4CAD-9290-1AAEA5B071A0}"/>
              </a:ext>
            </a:extLst>
          </p:cNvPr>
          <p:cNvSpPr>
            <a:spLocks xmlns:a="http://schemas.openxmlformats.org/drawingml/2006/main" noGrp="1"/>
          </p:cNvSpPr>
          <p:nvPr/>
        </p:nvSpPr>
        <p:spPr>
          <a:xfrm xmlns:a="http://schemas.openxmlformats.org/drawingml/2006/main">
            <a:off x="609600" y="3781425"/>
            <a:ext cx="6572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69776B"/>
                </a:solidFill>
                <a:latin typeface="Avenir Next"/>
                <a:ea typeface="Avenir Next"/>
                <a:cs typeface="Avenir Next"/>
              </a:defRPr>
            </a:pPr>
            <a:r>
              <a:rPr sz="2100" b="0">
                <a:solidFill>
                  <a:srgbClr val="69776B"/>
                </a:solidFill>
                <a:latin typeface="Avenir Next"/>
                <a:ea typeface="Avenir Next"/>
                <a:cs typeface="Avenir Next"/>
              </a:rPr>
              <a:t>The teacher may need a way to see</a:t>
            </a:r>
          </a:p>
          <a:p xmlns:a="http://schemas.openxmlformats.org/drawingml/2006/main">
            <a:pPr algn="l">
              <a:defRPr sz="2100" b="0">
                <a:solidFill>
                  <a:srgbClr val="69776B"/>
                </a:solidFill>
                <a:latin typeface="Avenir Next"/>
                <a:ea typeface="Avenir Next"/>
                <a:cs typeface="Avenir Next"/>
              </a:defRPr>
            </a:pPr>
            <a:r>
              <a:rPr sz="2100" b="0">
                <a:solidFill>
                  <a:srgbClr val="69776B"/>
                </a:solidFill>
                <a:latin typeface="Avenir Next"/>
                <a:ea typeface="Avenir Next"/>
                <a:cs typeface="Avenir Next"/>
              </a:rPr>
              <a:t>what the rest of the class understands.</a:t>
            </a:r>
          </a:p>
        </p:txBody>
      </p:sp>
      <p:sp>
        <p:nvSpPr>
          <p:cNvPr id="11" name="">
            <a:extLst xmlns:a="http://schemas.openxmlformats.org/drawingml/2006/main">
              <a:ext uri="{FF2B5EF4-FFF2-40B4-BE49-F238E27FC236}">
                <a16:creationId xmlns:a16="http://schemas.microsoft.com/office/drawing/2014/main" id="{2FEB88FC-26E9-40D9-9835-02DEEE8F6299}"/>
              </a:ext>
            </a:extLst>
          </p:cNvPr>
          <p:cNvSpPr>
            <a:spLocks xmlns:a="http://schemas.openxmlformats.org/drawingml/2006/main" noGrp="1"/>
          </p:cNvSpPr>
          <p:nvPr/>
        </p:nvSpPr>
        <p:spPr>
          <a:xfrm xmlns:a="http://schemas.openxmlformats.org/drawingml/2006/main">
            <a:off x="609600" y="4819650"/>
            <a:ext cx="6334125" cy="9525"/>
          </a:xfrm>
          <a:prstGeom xmlns:a="http://schemas.openxmlformats.org/drawingml/2006/main" prst="rect">
            <a:avLst/>
          </a:prstGeom>
          <a:solidFill xmlns:a="http://schemas.openxmlformats.org/drawingml/2006/main">
            <a:srgbClr val="D9DED1"/>
          </a:solidFill>
          <a:ln xmlns:a="http://schemas.openxmlformats.org/drawingml/2006/main" w="0">
            <a:noFill/>
          </a:ln>
        </p:spPr>
      </p:sp>
      <p:sp>
        <p:nvSpPr>
          <p:cNvPr id="12" name="text-75">
            <a:extLst xmlns:a="http://schemas.openxmlformats.org/drawingml/2006/main">
              <a:ext uri="{FF2B5EF4-FFF2-40B4-BE49-F238E27FC236}">
                <a16:creationId xmlns:a16="http://schemas.microsoft.com/office/drawing/2014/main" id="{065E3431-E2D6-493A-AB6E-1FB65B1967EF}"/>
              </a:ext>
            </a:extLst>
          </p:cNvPr>
          <p:cNvSpPr>
            <a:spLocks xmlns:a="http://schemas.openxmlformats.org/drawingml/2006/main" noGrp="1"/>
          </p:cNvSpPr>
          <p:nvPr/>
        </p:nvSpPr>
        <p:spPr>
          <a:xfrm xmlns:a="http://schemas.openxmlformats.org/drawingml/2006/main">
            <a:off x="609600" y="5076825"/>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75" b="1">
                <a:solidFill>
                  <a:srgbClr val="BE653F"/>
                </a:solidFill>
                <a:latin typeface="Avenir Next"/>
                <a:ea typeface="Avenir Next"/>
                <a:cs typeface="Avenir Next"/>
              </a:defRPr>
            </a:pPr>
            <a:r>
              <a:rPr sz="975" b="1">
                <a:solidFill>
                  <a:srgbClr val="BE653F"/>
                </a:solidFill>
                <a:latin typeface="Avenir Next"/>
                <a:ea typeface="Avenir Next"/>
                <a:cs typeface="Avenir Next"/>
              </a:rPr>
              <a:t>UNKNOWN</a:t>
            </a:r>
          </a:p>
        </p:txBody>
      </p:sp>
      <p:sp>
        <p:nvSpPr>
          <p:cNvPr id="13" name="text-76">
            <a:extLst xmlns:a="http://schemas.openxmlformats.org/drawingml/2006/main">
              <a:ext uri="{FF2B5EF4-FFF2-40B4-BE49-F238E27FC236}">
                <a16:creationId xmlns:a16="http://schemas.microsoft.com/office/drawing/2014/main" id="{EA0AC72E-4B8A-45D2-BD56-E8EE829395E8}"/>
              </a:ext>
            </a:extLst>
          </p:cNvPr>
          <p:cNvSpPr>
            <a:spLocks xmlns:a="http://schemas.openxmlformats.org/drawingml/2006/main" noGrp="1"/>
          </p:cNvSpPr>
          <p:nvPr/>
        </p:nvSpPr>
        <p:spPr>
          <a:xfrm xmlns:a="http://schemas.openxmlformats.org/drawingml/2006/main">
            <a:off x="609600" y="5419725"/>
            <a:ext cx="657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69776B"/>
                </a:solidFill>
                <a:latin typeface="Avenir Next"/>
                <a:ea typeface="Avenir Next"/>
                <a:cs typeface="Avenir Next"/>
              </a:defRPr>
            </a:pPr>
            <a:r>
              <a:rPr sz="2025" b="0">
                <a:solidFill>
                  <a:srgbClr val="69776B"/>
                </a:solidFill>
                <a:latin typeface="Avenir Next"/>
                <a:ea typeface="Avenir Next"/>
                <a:cs typeface="Avenir Next"/>
              </a:rPr>
              <a:t>Individual learning levels and what</a:t>
            </a:r>
          </a:p>
          <a:p xmlns:a="http://schemas.openxmlformats.org/drawingml/2006/main">
            <a:pPr algn="l">
              <a:defRPr sz="2025" b="0">
                <a:solidFill>
                  <a:srgbClr val="69776B"/>
                </a:solidFill>
                <a:latin typeface="Avenir Next"/>
                <a:ea typeface="Avenir Next"/>
                <a:cs typeface="Avenir Next"/>
              </a:defRPr>
            </a:pPr>
            <a:r>
              <a:rPr sz="2025" b="0">
                <a:solidFill>
                  <a:srgbClr val="69776B"/>
                </a:solidFill>
                <a:latin typeface="Avenir Next"/>
                <a:ea typeface="Avenir Next"/>
                <a:cs typeface="Avenir Next"/>
              </a:rPr>
              <a:t>happened outside this lesson segment.</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679d9412b91c4a4e"/>
          <a:stretch xmlns:a="http://schemas.openxmlformats.org/drawingml/2006/main"/>
        </p:blipFill>
        <p:spPr>
          <a:xfrm xmlns:a="http://schemas.openxmlformats.org/drawingml/2006/main">
            <a:off x="8019485" y="2019300"/>
            <a:ext cx="3125329" cy="4181475"/>
          </a:xfrm>
          <a:prstGeom xmlns:a="http://schemas.openxmlformats.org/drawingml/2006/main" prst="rect">
            <a:avLst/>
          </a:prstGeom>
        </p:spPr>
      </p:pic>
    </p:spTree>
    <p:extLst>
      <p:ext uri="{BB962C8B-B14F-4D97-AF65-F5344CB8AC3E}">
        <p14:creationId xmlns:p14="http://schemas.microsoft.com/office/powerpoint/2010/main" val="477552527"/>
      </p:ext>
    </p:extLst>
  </p:cSld>
</p:sld>
</file>

<file path=ppt/slides/slide9.xml><?xml version="1.0" encoding="utf-8"?>
<p:sld xmlns:p="http://schemas.openxmlformats.org/presentationml/2006/main">
  <p:cSld>
    <p:bg>
      <p:bgPr>
        <a:solidFill xmlns:a="http://schemas.openxmlformats.org/drawingml/2006/main">
          <a:srgbClr val="173F36"/>
        </a:solidFill>
      </p:bgPr>
    </p:bg>
    <p:spTree>
      <p:nvGrpSpPr>
        <p:cNvPr id="1" name=""/>
        <p:cNvGrpSpPr/>
        <p:nvPr/>
      </p:nvGrpSpPr>
      <p:grpSpPr>
        <a:xfrm xmlns:a="http://schemas.openxmlformats.org/drawingml/2006/main"/>
      </p:grpSpPr>
      <p:sp>
        <p:nvSpPr>
          <p:cNvPr id="24" name="text-77">
            <a:extLst xmlns:a="http://schemas.openxmlformats.org/drawingml/2006/main">
              <a:ext uri="{FF2B5EF4-FFF2-40B4-BE49-F238E27FC236}">
                <a16:creationId xmlns:a16="http://schemas.microsoft.com/office/drawing/2014/main" id="{E0A0AD4A-CD62-43F1-8391-C2CEE3BFE9BC}"/>
              </a:ext>
            </a:extLst>
          </p:cNvPr>
          <p:cNvSpPr>
            <a:spLocks xmlns:a="http://schemas.openxmlformats.org/drawingml/2006/main" noGrp="1"/>
          </p:cNvSpPr>
          <p:nvPr/>
        </p:nvSpPr>
        <p:spPr>
          <a:xfrm xmlns:a="http://schemas.openxmlformats.org/drawingml/2006/main">
            <a:off x="609600" y="35242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75" b="1">
                <a:solidFill>
                  <a:srgbClr val="D5E9AC"/>
                </a:solidFill>
                <a:latin typeface="Avenir Next"/>
                <a:ea typeface="Avenir Next"/>
                <a:cs typeface="Avenir Next"/>
              </a:defRPr>
            </a:pPr>
            <a:r>
              <a:rPr sz="975" b="1">
                <a:solidFill>
                  <a:srgbClr val="D5E9AC"/>
                </a:solidFill>
                <a:latin typeface="Avenir Next"/>
                <a:ea typeface="Avenir Next"/>
                <a:cs typeface="Avenir Next"/>
              </a:rPr>
              <a:t>08 / TECHNOLOGY AND DATA FEASIBILITY</a:t>
            </a:r>
          </a:p>
        </p:txBody>
      </p:sp>
      <p:sp>
        <p:nvSpPr>
          <p:cNvPr id="2" name="text-78">
            <a:extLst xmlns:a="http://schemas.openxmlformats.org/drawingml/2006/main">
              <a:ext uri="{FF2B5EF4-FFF2-40B4-BE49-F238E27FC236}">
                <a16:creationId xmlns:a16="http://schemas.microsoft.com/office/drawing/2014/main" id="{D22F6BF3-C34B-414F-9E17-8C3A836DD7AB}"/>
              </a:ext>
            </a:extLst>
          </p:cNvPr>
          <p:cNvSpPr>
            <a:spLocks xmlns:a="http://schemas.openxmlformats.org/drawingml/2006/main" noGrp="1"/>
          </p:cNvSpPr>
          <p:nvPr/>
        </p:nvSpPr>
        <p:spPr>
          <a:xfrm xmlns:a="http://schemas.openxmlformats.org/drawingml/2006/main">
            <a:off x="609600" y="800100"/>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75" b="1">
                <a:solidFill>
                  <a:srgbClr val="F7F5EF"/>
                </a:solidFill>
                <a:latin typeface="Avenir Next"/>
                <a:ea typeface="Avenir Next"/>
                <a:cs typeface="Avenir Next"/>
              </a:defRPr>
            </a:pPr>
            <a:r>
              <a:rPr sz="3375" b="1">
                <a:solidFill>
                  <a:srgbClr val="F7F5EF"/>
                </a:solidFill>
                <a:latin typeface="Avenir Next"/>
                <a:ea typeface="Avenir Next"/>
                <a:cs typeface="Avenir Next"/>
              </a:rPr>
              <a:t>AI reasons over evidence before a mentor approves</a:t>
            </a:r>
          </a:p>
        </p:txBody>
      </p:sp>
      <p:sp>
        <p:nvSpPr>
          <p:cNvPr id="3" name="text-79">
            <a:extLst xmlns:a="http://schemas.openxmlformats.org/drawingml/2006/main">
              <a:ext uri="{FF2B5EF4-FFF2-40B4-BE49-F238E27FC236}">
                <a16:creationId xmlns:a16="http://schemas.microsoft.com/office/drawing/2014/main" id="{CD95BC45-63E7-48F2-86F7-E26E57F3E49B}"/>
              </a:ext>
            </a:extLst>
          </p:cNvPr>
          <p:cNvSpPr>
            <a:spLocks xmlns:a="http://schemas.openxmlformats.org/drawingml/2006/main" noGrp="1"/>
          </p:cNvSpPr>
          <p:nvPr/>
        </p:nvSpPr>
        <p:spPr>
          <a:xfrm xmlns:a="http://schemas.openxmlformats.org/drawingml/2006/main">
            <a:off x="609600" y="6448425"/>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825" b="1">
                <a:solidFill>
                  <a:srgbClr val="A4BAAB"/>
                </a:solidFill>
                <a:latin typeface="Avenir Next"/>
                <a:ea typeface="Avenir Next"/>
                <a:cs typeface="Avenir Next"/>
              </a:defRPr>
            </a:pPr>
            <a:r>
              <a:rPr sz="825" b="1">
                <a:solidFill>
                  <a:srgbClr val="A4BAAB"/>
                </a:solidFill>
                <a:latin typeface="Avenir Next"/>
                <a:ea typeface="Avenir Next"/>
                <a:cs typeface="Avenir Next"/>
              </a:rPr>
              <a:t>SAKSHAM AI</a:t>
            </a:r>
          </a:p>
        </p:txBody>
      </p:sp>
      <p:sp>
        <p:nvSpPr>
          <p:cNvPr id="4" name="text-80">
            <a:extLst xmlns:a="http://schemas.openxmlformats.org/drawingml/2006/main">
              <a:ext uri="{FF2B5EF4-FFF2-40B4-BE49-F238E27FC236}">
                <a16:creationId xmlns:a16="http://schemas.microsoft.com/office/drawing/2014/main" id="{48A04CD8-3DD7-4A3C-BCF6-5D74486ACB23}"/>
              </a:ext>
            </a:extLst>
          </p:cNvPr>
          <p:cNvSpPr>
            <a:spLocks xmlns:a="http://schemas.openxmlformats.org/drawingml/2006/main" noGrp="1"/>
          </p:cNvSpPr>
          <p:nvPr/>
        </p:nvSpPr>
        <p:spPr>
          <a:xfrm xmlns:a="http://schemas.openxmlformats.org/drawingml/2006/main">
            <a:off x="11239500" y="6438900"/>
            <a:ext cx="3429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00" b="0">
                <a:solidFill>
                  <a:srgbClr val="A4BAAB"/>
                </a:solidFill>
                <a:latin typeface="Avenir Next"/>
                <a:ea typeface="Avenir Next"/>
                <a:cs typeface="Avenir Next"/>
              </a:defRPr>
            </a:pPr>
            <a:r>
              <a:rPr sz="900" b="0">
                <a:solidFill>
                  <a:srgbClr val="A4BAAB"/>
                </a:solidFill>
                <a:latin typeface="Avenir Next"/>
                <a:ea typeface="Avenir Next"/>
                <a:cs typeface="Avenir Next"/>
              </a:rPr>
              <a:t>08</a:t>
            </a:r>
          </a:p>
        </p:txBody>
      </p:sp>
      <p:sp>
        <p:nvSpPr>
          <p:cNvPr id="5" name="text-81">
            <a:extLst xmlns:a="http://schemas.openxmlformats.org/drawingml/2006/main">
              <a:ext uri="{FF2B5EF4-FFF2-40B4-BE49-F238E27FC236}">
                <a16:creationId xmlns:a16="http://schemas.microsoft.com/office/drawing/2014/main" id="{53FBFED0-F2E9-4E74-A689-6D7DB3AF1BDA}"/>
              </a:ext>
            </a:extLst>
          </p:cNvPr>
          <p:cNvSpPr>
            <a:spLocks xmlns:a="http://schemas.openxmlformats.org/drawingml/2006/main" noGrp="1"/>
          </p:cNvSpPr>
          <p:nvPr/>
        </p:nvSpPr>
        <p:spPr>
          <a:xfrm xmlns:a="http://schemas.openxmlformats.org/drawingml/2006/main">
            <a:off x="2266950" y="6429375"/>
            <a:ext cx="8743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825" b="0">
                <a:solidFill>
                  <a:srgbClr val="ABC0AE"/>
                </a:solidFill>
                <a:latin typeface="Avenir Next"/>
                <a:ea typeface="Avenir Next"/>
                <a:cs typeface="Avenir Next"/>
              </a:defRPr>
            </a:pPr>
            <a:r>
              <a:rPr sz="825" b="0">
                <a:solidFill>
                  <a:srgbClr val="ABC0AE"/>
                </a:solidFill>
                <a:latin typeface="Avenir Next"/>
                <a:ea typeface="Avenir Next"/>
                <a:cs typeface="Avenir Next"/>
              </a:rPr>
              <a:t>Proposed production flow. Prototype uses fixed curated summaries; document retrieval, sync and multilingual ASR are build milestones.</a:t>
            </a:r>
          </a:p>
        </p:txBody>
      </p:sp>
      <p:sp>
        <p:nvSpPr>
          <p:cNvPr id="6" name="">
            <a:extLst xmlns:a="http://schemas.openxmlformats.org/drawingml/2006/main">
              <a:ext uri="{FF2B5EF4-FFF2-40B4-BE49-F238E27FC236}">
                <a16:creationId xmlns:a16="http://schemas.microsoft.com/office/drawing/2014/main" id="{81D420AE-FBE8-4002-A72F-58F5CE148309}"/>
              </a:ext>
            </a:extLst>
          </p:cNvPr>
          <p:cNvSpPr>
            <a:spLocks xmlns:a="http://schemas.openxmlformats.org/drawingml/2006/main" noGrp="1"/>
          </p:cNvSpPr>
          <p:nvPr/>
        </p:nvSpPr>
        <p:spPr>
          <a:xfrm xmlns:a="http://schemas.openxmlformats.org/drawingml/2006/main">
            <a:off x="609600" y="2085975"/>
            <a:ext cx="2266950" cy="809625"/>
          </a:xfrm>
          <a:prstGeom xmlns:a="http://schemas.openxmlformats.org/drawingml/2006/main" prst="rect">
            <a:avLst/>
          </a:prstGeom>
          <a:solidFill xmlns:a="http://schemas.openxmlformats.org/drawingml/2006/main">
            <a:srgbClr val="2E5846"/>
          </a:solidFill>
          <a:ln xmlns:a="http://schemas.openxmlformats.org/drawingml/2006/main" w="9525">
            <a:solidFill>
              <a:srgbClr val="6E9270"/>
            </a:solidFill>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Mentor notes</a:t>
            </a:r>
          </a:p>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 lesson context</a:t>
            </a:r>
          </a:p>
        </p:txBody>
      </p:sp>
      <p:sp>
        <p:nvSpPr>
          <p:cNvPr id="7" name="">
            <a:extLst xmlns:a="http://schemas.openxmlformats.org/drawingml/2006/main">
              <a:ext uri="{FF2B5EF4-FFF2-40B4-BE49-F238E27FC236}">
                <a16:creationId xmlns:a16="http://schemas.microsoft.com/office/drawing/2014/main" id="{B89EE068-5D19-4276-B6CA-3116FED39EE8}"/>
              </a:ext>
            </a:extLst>
          </p:cNvPr>
          <p:cNvSpPr>
            <a:spLocks xmlns:a="http://schemas.openxmlformats.org/drawingml/2006/main" noGrp="1"/>
          </p:cNvSpPr>
          <p:nvPr/>
        </p:nvSpPr>
        <p:spPr>
          <a:xfrm xmlns:a="http://schemas.openxmlformats.org/drawingml/2006/main">
            <a:off x="3409950" y="2085975"/>
            <a:ext cx="2457450" cy="809625"/>
          </a:xfrm>
          <a:prstGeom xmlns:a="http://schemas.openxmlformats.org/drawingml/2006/main" prst="rect">
            <a:avLst/>
          </a:prstGeom>
          <a:solidFill xmlns:a="http://schemas.openxmlformats.org/drawingml/2006/main">
            <a:srgbClr val="2E5846"/>
          </a:solidFill>
          <a:ln xmlns:a="http://schemas.openxmlformats.org/drawingml/2006/main" w="9525">
            <a:solidFill>
              <a:srgbClr val="6E9270"/>
            </a:solidFill>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Claude extracts</a:t>
            </a:r>
          </a:p>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evidence + uncertainty</a:t>
            </a:r>
          </a:p>
        </p:txBody>
      </p:sp>
      <p:sp>
        <p:nvSpPr>
          <p:cNvPr id="8" name="">
            <a:extLst xmlns:a="http://schemas.openxmlformats.org/drawingml/2006/main">
              <a:ext uri="{FF2B5EF4-FFF2-40B4-BE49-F238E27FC236}">
                <a16:creationId xmlns:a16="http://schemas.microsoft.com/office/drawing/2014/main" id="{AFD53B37-7FE9-4973-89F8-7E381821FD14}"/>
              </a:ext>
            </a:extLst>
          </p:cNvPr>
          <p:cNvSpPr>
            <a:spLocks xmlns:a="http://schemas.openxmlformats.org/drawingml/2006/main" noGrp="1"/>
          </p:cNvSpPr>
          <p:nvPr/>
        </p:nvSpPr>
        <p:spPr>
          <a:xfrm xmlns:a="http://schemas.openxmlformats.org/drawingml/2006/main">
            <a:off x="6400800" y="2085975"/>
            <a:ext cx="2400300" cy="809625"/>
          </a:xfrm>
          <a:prstGeom xmlns:a="http://schemas.openxmlformats.org/drawingml/2006/main" prst="rect">
            <a:avLst/>
          </a:prstGeom>
          <a:solidFill xmlns:a="http://schemas.openxmlformats.org/drawingml/2006/main">
            <a:srgbClr val="2E5846"/>
          </a:solidFill>
          <a:ln xmlns:a="http://schemas.openxmlformats.org/drawingml/2006/main" w="9525">
            <a:solidFill>
              <a:srgbClr val="6E9270"/>
            </a:solidFill>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Retrieve reviewed</a:t>
            </a:r>
          </a:p>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FLN source passages</a:t>
            </a:r>
          </a:p>
        </p:txBody>
      </p:sp>
      <p:sp>
        <p:nvSpPr>
          <p:cNvPr id="9" name="">
            <a:extLst xmlns:a="http://schemas.openxmlformats.org/drawingml/2006/main">
              <a:ext uri="{FF2B5EF4-FFF2-40B4-BE49-F238E27FC236}">
                <a16:creationId xmlns:a16="http://schemas.microsoft.com/office/drawing/2014/main" id="{9C56CEF8-24CD-44A6-B3BF-2217A54F840E}"/>
              </a:ext>
            </a:extLst>
          </p:cNvPr>
          <p:cNvSpPr>
            <a:spLocks xmlns:a="http://schemas.openxmlformats.org/drawingml/2006/main" noGrp="1"/>
          </p:cNvSpPr>
          <p:nvPr/>
        </p:nvSpPr>
        <p:spPr>
          <a:xfrm xmlns:a="http://schemas.openxmlformats.org/drawingml/2006/main">
            <a:off x="9334500" y="2085975"/>
            <a:ext cx="2247900" cy="809625"/>
          </a:xfrm>
          <a:prstGeom xmlns:a="http://schemas.openxmlformats.org/drawingml/2006/main" prst="rect">
            <a:avLst/>
          </a:prstGeom>
          <a:solidFill xmlns:a="http://schemas.openxmlformats.org/drawingml/2006/main">
            <a:srgbClr val="2E5846"/>
          </a:solidFill>
          <a:ln xmlns:a="http://schemas.openxmlformats.org/drawingml/2006/main" w="9525">
            <a:solidFill>
              <a:srgbClr val="6E9270"/>
            </a:solidFill>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Claude proposes</a:t>
            </a:r>
          </a:p>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one coaching move</a:t>
            </a:r>
          </a:p>
        </p:txBody>
      </p:sp>
      <p:cxnSp>
        <p:nvCxnSpPr>
          <p:cNvPr id="33" name=""/>
          <p:cNvCxnSpPr>
            <a:stCxn xmlns:a="http://schemas.openxmlformats.org/drawingml/2006/main" id="6" idx="3"/>
            <a:endCxn xmlns:a="http://schemas.openxmlformats.org/drawingml/2006/main" id="7" idx="1"/>
          </p:cNvCxnSpPr>
          <p:nvPr/>
        </p:nvCxnSpPr>
        <p:spPr>
          <a:xfrm xmlns:a="http://schemas.openxmlformats.org/drawingml/2006/main">
            <a:off x="2876550" y="2490788"/>
            <a:ext cx="533400" cy="0"/>
          </a:xfrm>
          <a:prstGeom xmlns:a="http://schemas.openxmlformats.org/drawingml/2006/main" prst="straightConnector1">
            <a:avLst/>
          </a:prstGeom>
          <a:ln xmlns:a="http://schemas.openxmlformats.org/drawingml/2006/main" w="19050">
            <a:solidFill>
              <a:srgbClr val="8C9C7F"/>
            </a:solidFill>
            <a:tailEnd type="triangle" w="sm" len="sm"/>
          </a:ln>
        </p:spPr>
      </p:cxnSp>
      <p:cxnSp>
        <p:nvCxnSpPr>
          <p:cNvPr id="34" name=""/>
          <p:cNvCxnSpPr>
            <a:stCxn xmlns:a="http://schemas.openxmlformats.org/drawingml/2006/main" id="7" idx="3"/>
            <a:endCxn xmlns:a="http://schemas.openxmlformats.org/drawingml/2006/main" id="8" idx="1"/>
          </p:cNvCxnSpPr>
          <p:nvPr/>
        </p:nvCxnSpPr>
        <p:spPr>
          <a:xfrm xmlns:a="http://schemas.openxmlformats.org/drawingml/2006/main">
            <a:off x="5867400" y="2490788"/>
            <a:ext cx="533400" cy="0"/>
          </a:xfrm>
          <a:prstGeom xmlns:a="http://schemas.openxmlformats.org/drawingml/2006/main" prst="straightConnector1">
            <a:avLst/>
          </a:prstGeom>
          <a:ln xmlns:a="http://schemas.openxmlformats.org/drawingml/2006/main" w="19050">
            <a:solidFill>
              <a:srgbClr val="8C9C7F"/>
            </a:solidFill>
            <a:tailEnd type="triangle" w="sm" len="sm"/>
          </a:ln>
        </p:spPr>
      </p:cxnSp>
      <p:cxnSp>
        <p:nvCxnSpPr>
          <p:cNvPr id="35" name=""/>
          <p:cNvCxnSpPr>
            <a:stCxn xmlns:a="http://schemas.openxmlformats.org/drawingml/2006/main" id="8" idx="3"/>
            <a:endCxn xmlns:a="http://schemas.openxmlformats.org/drawingml/2006/main" id="9" idx="1"/>
          </p:cNvCxnSpPr>
          <p:nvPr/>
        </p:nvCxnSpPr>
        <p:spPr>
          <a:xfrm xmlns:a="http://schemas.openxmlformats.org/drawingml/2006/main">
            <a:off x="8801100" y="2490788"/>
            <a:ext cx="533400" cy="0"/>
          </a:xfrm>
          <a:prstGeom xmlns:a="http://schemas.openxmlformats.org/drawingml/2006/main" prst="straightConnector1">
            <a:avLst/>
          </a:prstGeom>
          <a:ln xmlns:a="http://schemas.openxmlformats.org/drawingml/2006/main" w="19050">
            <a:solidFill>
              <a:srgbClr val="8C9C7F"/>
            </a:solidFill>
            <a:tailEnd type="triangle" w="sm" len="sm"/>
          </a:ln>
        </p:spPr>
      </p:cxnSp>
      <p:sp>
        <p:nvSpPr>
          <p:cNvPr id="13" name="">
            <a:extLst xmlns:a="http://schemas.openxmlformats.org/drawingml/2006/main">
              <a:ext uri="{FF2B5EF4-FFF2-40B4-BE49-F238E27FC236}">
                <a16:creationId xmlns:a16="http://schemas.microsoft.com/office/drawing/2014/main" id="{AAFBF2C0-0819-4721-93D2-026985CBC9F1}"/>
              </a:ext>
            </a:extLst>
          </p:cNvPr>
          <p:cNvSpPr>
            <a:spLocks xmlns:a="http://schemas.openxmlformats.org/drawingml/2006/main" noGrp="1"/>
          </p:cNvSpPr>
          <p:nvPr/>
        </p:nvSpPr>
        <p:spPr>
          <a:xfrm xmlns:a="http://schemas.openxmlformats.org/drawingml/2006/main">
            <a:off x="9334500" y="3571875"/>
            <a:ext cx="2247900" cy="876300"/>
          </a:xfrm>
          <a:prstGeom xmlns:a="http://schemas.openxmlformats.org/drawingml/2006/main" prst="rect">
            <a:avLst/>
          </a:prstGeom>
          <a:solidFill xmlns:a="http://schemas.openxmlformats.org/drawingml/2006/main">
            <a:srgbClr val="2E5846"/>
          </a:solidFill>
          <a:ln xmlns:a="http://schemas.openxmlformats.org/drawingml/2006/main" w="9525">
            <a:solidFill>
              <a:srgbClr val="6E9270"/>
            </a:solidFill>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575" b="1">
                <a:solidFill>
                  <a:srgbClr val="FFFFFF"/>
                </a:solidFill>
                <a:latin typeface="Avenir Next"/>
                <a:ea typeface="Avenir Next"/>
                <a:cs typeface="Avenir Next"/>
              </a:defRPr>
            </a:pPr>
            <a:r>
              <a:rPr sz="1575" b="1">
                <a:solidFill>
                  <a:srgbClr val="FFFFFF"/>
                </a:solidFill>
                <a:latin typeface="Avenir Next"/>
                <a:ea typeface="Avenir Next"/>
                <a:cs typeface="Avenir Next"/>
              </a:rPr>
              <a:t>Quote / source checks</a:t>
            </a:r>
          </a:p>
          <a:p xmlns:a="http://schemas.openxmlformats.org/drawingml/2006/main">
            <a:pPr algn="ctr">
              <a:defRPr sz="1575" b="1">
                <a:solidFill>
                  <a:srgbClr val="FFFFFF"/>
                </a:solidFill>
                <a:latin typeface="Avenir Next"/>
                <a:ea typeface="Avenir Next"/>
                <a:cs typeface="Avenir Next"/>
              </a:defRPr>
            </a:pPr>
            <a:r>
              <a:rPr sz="1575" b="1">
                <a:solidFill>
                  <a:srgbClr val="FFFFFF"/>
                </a:solidFill>
                <a:latin typeface="Avenir Next"/>
                <a:ea typeface="Avenir Next"/>
                <a:cs typeface="Avenir Next"/>
              </a:rPr>
              <a:t>+ mentor approval</a:t>
            </a:r>
          </a:p>
        </p:txBody>
      </p:sp>
      <p:cxnSp>
        <p:nvCxnSpPr>
          <p:cNvPr id="37" name=""/>
          <p:cNvCxnSpPr>
            <a:stCxn xmlns:a="http://schemas.openxmlformats.org/drawingml/2006/main" id="9" idx="2"/>
            <a:endCxn xmlns:a="http://schemas.openxmlformats.org/drawingml/2006/main" id="13" idx="0"/>
          </p:cNvCxnSpPr>
          <p:nvPr/>
        </p:nvCxnSpPr>
        <p:spPr>
          <a:xfrm xmlns:a="http://schemas.openxmlformats.org/drawingml/2006/main">
            <a:off x="10458450" y="2895600"/>
            <a:ext cx="0" cy="676275"/>
          </a:xfrm>
          <a:prstGeom xmlns:a="http://schemas.openxmlformats.org/drawingml/2006/main" prst="straightConnector1">
            <a:avLst/>
          </a:prstGeom>
          <a:ln xmlns:a="http://schemas.openxmlformats.org/drawingml/2006/main" w="19050">
            <a:solidFill>
              <a:srgbClr val="8C9C7F"/>
            </a:solidFill>
            <a:tailEnd type="triangle" w="sm" len="sm"/>
          </a:ln>
        </p:spPr>
      </p:cxnSp>
      <p:sp>
        <p:nvSpPr>
          <p:cNvPr id="15" name="">
            <a:extLst xmlns:a="http://schemas.openxmlformats.org/drawingml/2006/main">
              <a:ext uri="{FF2B5EF4-FFF2-40B4-BE49-F238E27FC236}">
                <a16:creationId xmlns:a16="http://schemas.microsoft.com/office/drawing/2014/main" id="{6FE9FD11-DA41-44D8-8EA2-0B5206771FDB}"/>
              </a:ext>
            </a:extLst>
          </p:cNvPr>
          <p:cNvSpPr>
            <a:spLocks xmlns:a="http://schemas.openxmlformats.org/drawingml/2006/main" noGrp="1"/>
          </p:cNvSpPr>
          <p:nvPr/>
        </p:nvSpPr>
        <p:spPr>
          <a:xfrm xmlns:a="http://schemas.openxmlformats.org/drawingml/2006/main">
            <a:off x="6400800" y="3571875"/>
            <a:ext cx="2400300" cy="876300"/>
          </a:xfrm>
          <a:prstGeom xmlns:a="http://schemas.openxmlformats.org/drawingml/2006/main" prst="rect">
            <a:avLst/>
          </a:prstGeom>
          <a:solidFill xmlns:a="http://schemas.openxmlformats.org/drawingml/2006/main">
            <a:srgbClr val="2E5846"/>
          </a:solidFill>
          <a:ln xmlns:a="http://schemas.openxmlformats.org/drawingml/2006/main" w="9525">
            <a:solidFill>
              <a:srgbClr val="6E9270"/>
            </a:solidFill>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Claude role-play</a:t>
            </a:r>
          </a:p>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 coach feedback</a:t>
            </a:r>
          </a:p>
        </p:txBody>
      </p:sp>
      <p:cxnSp>
        <p:nvCxnSpPr>
          <p:cNvPr id="39" name=""/>
          <p:cNvCxnSpPr>
            <a:stCxn xmlns:a="http://schemas.openxmlformats.org/drawingml/2006/main" id="13" idx="1"/>
            <a:endCxn xmlns:a="http://schemas.openxmlformats.org/drawingml/2006/main" id="15" idx="3"/>
          </p:cNvCxnSpPr>
          <p:nvPr/>
        </p:nvCxnSpPr>
        <p:spPr>
          <a:xfrm xmlns:a="http://schemas.openxmlformats.org/drawingml/2006/main" flipH="1">
            <a:off x="8801100" y="4010025"/>
            <a:ext cx="533400" cy="0"/>
          </a:xfrm>
          <a:prstGeom xmlns:a="http://schemas.openxmlformats.org/drawingml/2006/main" prst="straightConnector1">
            <a:avLst/>
          </a:prstGeom>
          <a:ln xmlns:a="http://schemas.openxmlformats.org/drawingml/2006/main" w="19050">
            <a:solidFill>
              <a:srgbClr val="8C9C7F"/>
            </a:solidFill>
            <a:tailEnd type="triangle" w="sm" len="sm"/>
          </a:ln>
        </p:spPr>
      </p:cxnSp>
      <p:sp>
        <p:nvSpPr>
          <p:cNvPr id="17" name="">
            <a:extLst xmlns:a="http://schemas.openxmlformats.org/drawingml/2006/main">
              <a:ext uri="{FF2B5EF4-FFF2-40B4-BE49-F238E27FC236}">
                <a16:creationId xmlns:a16="http://schemas.microsoft.com/office/drawing/2014/main" id="{18544A40-0FAA-422F-8945-F67EFAA802C6}"/>
              </a:ext>
            </a:extLst>
          </p:cNvPr>
          <p:cNvSpPr>
            <a:spLocks xmlns:a="http://schemas.openxmlformats.org/drawingml/2006/main" noGrp="1"/>
          </p:cNvSpPr>
          <p:nvPr/>
        </p:nvSpPr>
        <p:spPr>
          <a:xfrm xmlns:a="http://schemas.openxmlformats.org/drawingml/2006/main">
            <a:off x="3409950" y="3571875"/>
            <a:ext cx="2457450" cy="876300"/>
          </a:xfrm>
          <a:prstGeom xmlns:a="http://schemas.openxmlformats.org/drawingml/2006/main" prst="rect">
            <a:avLst/>
          </a:prstGeom>
          <a:solidFill xmlns:a="http://schemas.openxmlformats.org/drawingml/2006/main">
            <a:srgbClr val="2E5846"/>
          </a:solidFill>
          <a:ln xmlns:a="http://schemas.openxmlformats.org/drawingml/2006/main" w="9525">
            <a:solidFill>
              <a:srgbClr val="6E9270"/>
            </a:solidFill>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Agreed action</a:t>
            </a:r>
          </a:p>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 next-visit evidence</a:t>
            </a:r>
          </a:p>
        </p:txBody>
      </p:sp>
      <p:cxnSp>
        <p:nvCxnSpPr>
          <p:cNvPr id="41" name=""/>
          <p:cNvCxnSpPr>
            <a:stCxn xmlns:a="http://schemas.openxmlformats.org/drawingml/2006/main" id="15" idx="1"/>
            <a:endCxn xmlns:a="http://schemas.openxmlformats.org/drawingml/2006/main" id="17" idx="3"/>
          </p:cNvCxnSpPr>
          <p:nvPr/>
        </p:nvCxnSpPr>
        <p:spPr>
          <a:xfrm xmlns:a="http://schemas.openxmlformats.org/drawingml/2006/main" flipH="1">
            <a:off x="5867400" y="4010025"/>
            <a:ext cx="533400" cy="0"/>
          </a:xfrm>
          <a:prstGeom xmlns:a="http://schemas.openxmlformats.org/drawingml/2006/main" prst="straightConnector1">
            <a:avLst/>
          </a:prstGeom>
          <a:ln xmlns:a="http://schemas.openxmlformats.org/drawingml/2006/main" w="19050">
            <a:solidFill>
              <a:srgbClr val="8C9C7F"/>
            </a:solidFill>
            <a:tailEnd type="triangle" w="sm" len="sm"/>
          </a:ln>
        </p:spPr>
      </p:cxnSp>
      <p:sp>
        <p:nvSpPr>
          <p:cNvPr id="19" name="text-82">
            <a:extLst xmlns:a="http://schemas.openxmlformats.org/drawingml/2006/main">
              <a:ext uri="{FF2B5EF4-FFF2-40B4-BE49-F238E27FC236}">
                <a16:creationId xmlns:a16="http://schemas.microsoft.com/office/drawing/2014/main" id="{8509C016-545A-4213-8B35-BDAAD206B31A}"/>
              </a:ext>
            </a:extLst>
          </p:cNvPr>
          <p:cNvSpPr>
            <a:spLocks xmlns:a="http://schemas.openxmlformats.org/drawingml/2006/main" noGrp="1"/>
          </p:cNvSpPr>
          <p:nvPr/>
        </p:nvSpPr>
        <p:spPr>
          <a:xfrm xmlns:a="http://schemas.openxmlformats.org/drawingml/2006/main">
            <a:off x="609600" y="3686175"/>
            <a:ext cx="2428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D5E9AC"/>
                </a:solidFill>
                <a:latin typeface="Avenir Next"/>
                <a:ea typeface="Avenir Next"/>
                <a:cs typeface="Avenir Next"/>
              </a:defRPr>
            </a:pPr>
            <a:r>
              <a:rPr sz="1650" b="0">
                <a:solidFill>
                  <a:srgbClr val="D5E9AC"/>
                </a:solidFill>
                <a:latin typeface="Avenir Next"/>
                <a:ea typeface="Avenir Next"/>
                <a:cs typeface="Avenir Next"/>
              </a:rPr>
              <a:t>Offline: capture drafts</a:t>
            </a:r>
          </a:p>
          <a:p xmlns:a="http://schemas.openxmlformats.org/drawingml/2006/main">
            <a:pPr algn="l">
              <a:defRPr sz="1650" b="0">
                <a:solidFill>
                  <a:srgbClr val="D5E9AC"/>
                </a:solidFill>
                <a:latin typeface="Avenir Next"/>
                <a:ea typeface="Avenir Next"/>
                <a:cs typeface="Avenir Next"/>
              </a:defRPr>
            </a:pPr>
            <a:r>
              <a:rPr sz="1650" b="0">
                <a:solidFill>
                  <a:srgbClr val="D5E9AC"/>
                </a:solidFill>
                <a:latin typeface="Avenir Next"/>
                <a:ea typeface="Avenir Next"/>
                <a:cs typeface="Avenir Next"/>
              </a:rPr>
              <a:t>Online: model + retrieval</a:t>
            </a:r>
          </a:p>
        </p:txBody>
      </p:sp>
      <p:sp>
        <p:nvSpPr>
          <p:cNvPr id="20" name="text-83">
            <a:extLst xmlns:a="http://schemas.openxmlformats.org/drawingml/2006/main">
              <a:ext uri="{FF2B5EF4-FFF2-40B4-BE49-F238E27FC236}">
                <a16:creationId xmlns:a16="http://schemas.microsoft.com/office/drawing/2014/main" id="{03FA2A08-11C1-4FCC-9B9D-48C661AA9924}"/>
              </a:ext>
            </a:extLst>
          </p:cNvPr>
          <p:cNvSpPr>
            <a:spLocks xmlns:a="http://schemas.openxmlformats.org/drawingml/2006/main" noGrp="1"/>
          </p:cNvSpPr>
          <p:nvPr/>
        </p:nvSpPr>
        <p:spPr>
          <a:xfrm xmlns:a="http://schemas.openxmlformats.org/drawingml/2006/main">
            <a:off x="609600" y="494347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75" b="1">
                <a:solidFill>
                  <a:srgbClr val="D5E9AC"/>
                </a:solidFill>
                <a:latin typeface="Avenir Next"/>
                <a:ea typeface="Avenir Next"/>
                <a:cs typeface="Avenir Next"/>
              </a:defRPr>
            </a:pPr>
            <a:r>
              <a:rPr sz="975" b="1">
                <a:solidFill>
                  <a:srgbClr val="D5E9AC"/>
                </a:solidFill>
                <a:latin typeface="Avenir Next"/>
                <a:ea typeface="Avenir Next"/>
                <a:cs typeface="Avenir Next"/>
              </a:rPr>
              <a:t>DATA</a:t>
            </a:r>
          </a:p>
        </p:txBody>
      </p:sp>
      <p:sp>
        <p:nvSpPr>
          <p:cNvPr id="21" name="text-84">
            <a:extLst xmlns:a="http://schemas.openxmlformats.org/drawingml/2006/main">
              <a:ext uri="{FF2B5EF4-FFF2-40B4-BE49-F238E27FC236}">
                <a16:creationId xmlns:a16="http://schemas.microsoft.com/office/drawing/2014/main" id="{1614CDF3-F152-4DCD-8473-D3A82B9A3B9B}"/>
              </a:ext>
            </a:extLst>
          </p:cNvPr>
          <p:cNvSpPr>
            <a:spLocks xmlns:a="http://schemas.openxmlformats.org/drawingml/2006/main" noGrp="1"/>
          </p:cNvSpPr>
          <p:nvPr/>
        </p:nvSpPr>
        <p:spPr>
          <a:xfrm xmlns:a="http://schemas.openxmlformats.org/drawingml/2006/main">
            <a:off x="609600" y="5305425"/>
            <a:ext cx="50101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D2DECB"/>
                </a:solidFill>
                <a:latin typeface="Avenir Next"/>
                <a:ea typeface="Avenir Next"/>
                <a:cs typeface="Avenir Next"/>
              </a:defRPr>
            </a:pPr>
            <a:r>
              <a:rPr sz="1650" b="0">
                <a:solidFill>
                  <a:srgbClr val="D2DECB"/>
                </a:solidFill>
                <a:latin typeface="Avenir Next"/>
                <a:ea typeface="Avenir Next"/>
                <a:cs typeface="Avenir Next"/>
              </a:rPr>
              <a:t>NCF–FS, NIPUN Bharat and permitted state FLN resources. Expert-reviewed scenarios for evaluation. No fine-tuning planned.</a:t>
            </a:r>
          </a:p>
        </p:txBody>
      </p:sp>
      <p:sp>
        <p:nvSpPr>
          <p:cNvPr id="22" name="text-85">
            <a:extLst xmlns:a="http://schemas.openxmlformats.org/drawingml/2006/main">
              <a:ext uri="{FF2B5EF4-FFF2-40B4-BE49-F238E27FC236}">
                <a16:creationId xmlns:a16="http://schemas.microsoft.com/office/drawing/2014/main" id="{DC588C90-2CA8-4802-A0A5-190E8FA874FF}"/>
              </a:ext>
            </a:extLst>
          </p:cNvPr>
          <p:cNvSpPr>
            <a:spLocks xmlns:a="http://schemas.openxmlformats.org/drawingml/2006/main" noGrp="1"/>
          </p:cNvSpPr>
          <p:nvPr/>
        </p:nvSpPr>
        <p:spPr>
          <a:xfrm xmlns:a="http://schemas.openxmlformats.org/drawingml/2006/main">
            <a:off x="6400800" y="4943475"/>
            <a:ext cx="514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75" b="1">
                <a:solidFill>
                  <a:srgbClr val="D5E9AC"/>
                </a:solidFill>
                <a:latin typeface="Avenir Next"/>
                <a:ea typeface="Avenir Next"/>
                <a:cs typeface="Avenir Next"/>
              </a:defRPr>
            </a:pPr>
            <a:r>
              <a:rPr sz="975" b="1">
                <a:solidFill>
                  <a:srgbClr val="D5E9AC"/>
                </a:solidFill>
                <a:latin typeface="Avenir Next"/>
                <a:ea typeface="Avenir Next"/>
                <a:cs typeface="Avenir Next"/>
              </a:rPr>
              <a:t>IMPLEMENTATION</a:t>
            </a:r>
          </a:p>
        </p:txBody>
      </p:sp>
      <p:sp>
        <p:nvSpPr>
          <p:cNvPr id="23" name="text-86">
            <a:extLst xmlns:a="http://schemas.openxmlformats.org/drawingml/2006/main">
              <a:ext uri="{FF2B5EF4-FFF2-40B4-BE49-F238E27FC236}">
                <a16:creationId xmlns:a16="http://schemas.microsoft.com/office/drawing/2014/main" id="{E212D52E-9A00-4496-AB72-24428CDCEFC6}"/>
              </a:ext>
            </a:extLst>
          </p:cNvPr>
          <p:cNvSpPr>
            <a:spLocks xmlns:a="http://schemas.openxmlformats.org/drawingml/2006/main" noGrp="1"/>
          </p:cNvSpPr>
          <p:nvPr/>
        </p:nvSpPr>
        <p:spPr>
          <a:xfrm xmlns:a="http://schemas.openxmlformats.org/drawingml/2006/main">
            <a:off x="6400800" y="5305425"/>
            <a:ext cx="51816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D2DECB"/>
                </a:solidFill>
                <a:latin typeface="Avenir Next"/>
                <a:ea typeface="Avenir Next"/>
                <a:cs typeface="Avenir Next"/>
              </a:defRPr>
            </a:pPr>
            <a:r>
              <a:rPr sz="1650" b="0">
                <a:solidFill>
                  <a:srgbClr val="D2DECB"/>
                </a:solidFill>
                <a:latin typeface="Avenir Next"/>
                <a:ea typeface="Avenir Next"/>
                <a:cs typeface="Avenir Next"/>
              </a:rPr>
              <a:t>Next.js / TypeScript, server-side Claude, schema validation. Planned: PostgreSQL + pgvector, secure sync and multilingual speech.</a:t>
            </a:r>
          </a:p>
        </p:txBody>
      </p:sp>
    </p:spTree>
    <p:extLst>
      <p:ext uri="{BB962C8B-B14F-4D97-AF65-F5344CB8AC3E}">
        <p14:creationId xmlns:p14="http://schemas.microsoft.com/office/powerpoint/2010/main" val="977355514"/>
      </p:ext>
    </p:extLst>
  </p:cSld>
</p:sld>
</file>

<file path=ppt/slides/slide1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4" name="text-87">
            <a:extLst xmlns:a="http://schemas.openxmlformats.org/drawingml/2006/main">
              <a:ext uri="{FF2B5EF4-FFF2-40B4-BE49-F238E27FC236}">
                <a16:creationId xmlns:a16="http://schemas.microsoft.com/office/drawing/2014/main" id="{6F0911AB-DD8E-471B-B910-88779D858916}"/>
              </a:ext>
            </a:extLst>
          </p:cNvPr>
          <p:cNvSpPr>
            <a:spLocks xmlns:a="http://schemas.openxmlformats.org/drawingml/2006/main" noGrp="1"/>
          </p:cNvSpPr>
          <p:nvPr/>
        </p:nvSpPr>
        <p:spPr>
          <a:xfrm xmlns:a="http://schemas.openxmlformats.org/drawingml/2006/main">
            <a:off x="609600" y="35242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75" b="1">
                <a:solidFill>
                  <a:srgbClr val="BE653F"/>
                </a:solidFill>
                <a:latin typeface="Avenir Next"/>
                <a:ea typeface="Avenir Next"/>
                <a:cs typeface="Avenir Next"/>
              </a:defRPr>
            </a:pPr>
            <a:r>
              <a:rPr sz="975" b="1">
                <a:solidFill>
                  <a:srgbClr val="BE653F"/>
                </a:solidFill>
                <a:latin typeface="Avenir Next"/>
                <a:ea typeface="Avenir Next"/>
                <a:cs typeface="Avenir Next"/>
              </a:rPr>
              <a:t>09 / FEASIBILITY AND EVALUATION</a:t>
            </a:r>
          </a:p>
        </p:txBody>
      </p:sp>
      <p:sp>
        <p:nvSpPr>
          <p:cNvPr id="2" name="text-88">
            <a:extLst xmlns:a="http://schemas.openxmlformats.org/drawingml/2006/main">
              <a:ext uri="{FF2B5EF4-FFF2-40B4-BE49-F238E27FC236}">
                <a16:creationId xmlns:a16="http://schemas.microsoft.com/office/drawing/2014/main" id="{CE231AF2-4960-4BC9-9D26-54AA77BCA8B4}"/>
              </a:ext>
            </a:extLst>
          </p:cNvPr>
          <p:cNvSpPr>
            <a:spLocks xmlns:a="http://schemas.openxmlformats.org/drawingml/2006/main" noGrp="1"/>
          </p:cNvSpPr>
          <p:nvPr/>
        </p:nvSpPr>
        <p:spPr>
          <a:xfrm xmlns:a="http://schemas.openxmlformats.org/drawingml/2006/main">
            <a:off x="609600" y="800100"/>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75" b="1">
                <a:solidFill>
                  <a:srgbClr val="173F36"/>
                </a:solidFill>
                <a:latin typeface="Avenir Next"/>
                <a:ea typeface="Avenir Next"/>
                <a:cs typeface="Avenir Next"/>
              </a:defRPr>
            </a:pPr>
            <a:r>
              <a:rPr sz="3375" b="1">
                <a:solidFill>
                  <a:srgbClr val="173F36"/>
                </a:solidFill>
                <a:latin typeface="Avenir Next"/>
                <a:ea typeface="Avenir Next"/>
                <a:cs typeface="Avenir Next"/>
              </a:rPr>
              <a:t>A measurable path to a field pilot</a:t>
            </a:r>
          </a:p>
        </p:txBody>
      </p:sp>
      <p:sp>
        <p:nvSpPr>
          <p:cNvPr id="3" name="text-89">
            <a:extLst xmlns:a="http://schemas.openxmlformats.org/drawingml/2006/main">
              <a:ext uri="{FF2B5EF4-FFF2-40B4-BE49-F238E27FC236}">
                <a16:creationId xmlns:a16="http://schemas.microsoft.com/office/drawing/2014/main" id="{681486F0-9170-4269-A28E-AD7A034C946F}"/>
              </a:ext>
            </a:extLst>
          </p:cNvPr>
          <p:cNvSpPr>
            <a:spLocks xmlns:a="http://schemas.openxmlformats.org/drawingml/2006/main" noGrp="1"/>
          </p:cNvSpPr>
          <p:nvPr/>
        </p:nvSpPr>
        <p:spPr>
          <a:xfrm xmlns:a="http://schemas.openxmlformats.org/drawingml/2006/main">
            <a:off x="609600" y="6448425"/>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825" b="1">
                <a:solidFill>
                  <a:srgbClr val="84917F"/>
                </a:solidFill>
                <a:latin typeface="Avenir Next"/>
                <a:ea typeface="Avenir Next"/>
                <a:cs typeface="Avenir Next"/>
              </a:defRPr>
            </a:pPr>
            <a:r>
              <a:rPr sz="825" b="1">
                <a:solidFill>
                  <a:srgbClr val="84917F"/>
                </a:solidFill>
                <a:latin typeface="Avenir Next"/>
                <a:ea typeface="Avenir Next"/>
                <a:cs typeface="Avenir Next"/>
              </a:rPr>
              <a:t>SAKSHAM AI</a:t>
            </a:r>
          </a:p>
        </p:txBody>
      </p:sp>
      <p:sp>
        <p:nvSpPr>
          <p:cNvPr id="4" name="text-90">
            <a:extLst xmlns:a="http://schemas.openxmlformats.org/drawingml/2006/main">
              <a:ext uri="{FF2B5EF4-FFF2-40B4-BE49-F238E27FC236}">
                <a16:creationId xmlns:a16="http://schemas.microsoft.com/office/drawing/2014/main" id="{E8FA7E46-E4C3-457C-ABF3-6B3A221BDAD7}"/>
              </a:ext>
            </a:extLst>
          </p:cNvPr>
          <p:cNvSpPr>
            <a:spLocks xmlns:a="http://schemas.openxmlformats.org/drawingml/2006/main" noGrp="1"/>
          </p:cNvSpPr>
          <p:nvPr/>
        </p:nvSpPr>
        <p:spPr>
          <a:xfrm xmlns:a="http://schemas.openxmlformats.org/drawingml/2006/main">
            <a:off x="11239500" y="6438900"/>
            <a:ext cx="3429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00" b="0">
                <a:solidFill>
                  <a:srgbClr val="84917F"/>
                </a:solidFill>
                <a:latin typeface="Avenir Next"/>
                <a:ea typeface="Avenir Next"/>
                <a:cs typeface="Avenir Next"/>
              </a:defRPr>
            </a:pPr>
            <a:r>
              <a:rPr sz="900" b="0">
                <a:solidFill>
                  <a:srgbClr val="84917F"/>
                </a:solidFill>
                <a:latin typeface="Avenir Next"/>
                <a:ea typeface="Avenir Next"/>
                <a:cs typeface="Avenir Next"/>
              </a:rPr>
              <a:t>09</a:t>
            </a:r>
          </a:p>
        </p:txBody>
      </p:sp>
      <p:sp>
        <p:nvSpPr>
          <p:cNvPr id="5" name="text-91">
            <a:extLst xmlns:a="http://schemas.openxmlformats.org/drawingml/2006/main">
              <a:ext uri="{FF2B5EF4-FFF2-40B4-BE49-F238E27FC236}">
                <a16:creationId xmlns:a16="http://schemas.microsoft.com/office/drawing/2014/main" id="{68758C51-A6BF-47FC-A36F-6C8AF47F6C14}"/>
              </a:ext>
            </a:extLst>
          </p:cNvPr>
          <p:cNvSpPr>
            <a:spLocks xmlns:a="http://schemas.openxmlformats.org/drawingml/2006/main" noGrp="1"/>
          </p:cNvSpPr>
          <p:nvPr/>
        </p:nvSpPr>
        <p:spPr>
          <a:xfrm xmlns:a="http://schemas.openxmlformats.org/drawingml/2006/main">
            <a:off x="2266950" y="6429375"/>
            <a:ext cx="8743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825" b="0">
                <a:solidFill>
                  <a:srgbClr val="7B8675"/>
                </a:solidFill>
                <a:latin typeface="Avenir Next"/>
                <a:ea typeface="Avenir Next"/>
                <a:cs typeface="Avenir Next"/>
              </a:defRPr>
            </a:pPr>
            <a:r>
              <a:rPr sz="825" b="0">
                <a:solidFill>
                  <a:srgbClr val="7B8675"/>
                </a:solidFill>
                <a:latin typeface="Avenir Next"/>
                <a:ea typeface="Avenir Next"/>
                <a:cs typeface="Avenir Next"/>
              </a:rPr>
              <a:t>All sample sizes and thresholds below are proposed validation targets, not measured results. No pilot partners are confirmed.</a:t>
            </a:r>
          </a:p>
        </p:txBody>
      </p:sp>
      <p:sp>
        <p:nvSpPr>
          <p:cNvPr id="6" name="text-92">
            <a:extLst xmlns:a="http://schemas.openxmlformats.org/drawingml/2006/main">
              <a:ext uri="{FF2B5EF4-FFF2-40B4-BE49-F238E27FC236}">
                <a16:creationId xmlns:a16="http://schemas.microsoft.com/office/drawing/2014/main" id="{A37E433A-45AD-467C-9121-7CE140BA4F00}"/>
              </a:ext>
            </a:extLst>
          </p:cNvPr>
          <p:cNvSpPr>
            <a:spLocks xmlns:a="http://schemas.openxmlformats.org/drawingml/2006/main" noGrp="1"/>
          </p:cNvSpPr>
          <p:nvPr/>
        </p:nvSpPr>
        <p:spPr>
          <a:xfrm xmlns:a="http://schemas.openxmlformats.org/drawingml/2006/main">
            <a:off x="609600" y="2019300"/>
            <a:ext cx="6000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3F36"/>
                </a:solidFill>
                <a:latin typeface="Avenir Next"/>
                <a:ea typeface="Avenir Next"/>
                <a:cs typeface="Avenir Next"/>
              </a:defRPr>
            </a:pPr>
            <a:r>
              <a:rPr sz="2250" b="1">
                <a:solidFill>
                  <a:srgbClr val="173F36"/>
                </a:solidFill>
                <a:latin typeface="Avenir Next"/>
                <a:ea typeface="Avenir Next"/>
                <a:cs typeface="Avenir Next"/>
              </a:rPr>
              <a:t>What we will test</a:t>
            </a:r>
          </a:p>
        </p:txBody>
      </p:sp>
      <p:graphicFrame>
        <p:nvGraphicFramePr>
          <p:cNvPr id="20" name=""/>
          <p:cNvGraphicFramePr/>
          <p:nvPr/>
        </p:nvGraphicFramePr>
        <p:xfrm>
          <a:off xmlns:a="http://schemas.openxmlformats.org/drawingml/2006/main" x="609600" y="2667000"/>
          <a:ext xmlns:a="http://schemas.openxmlformats.org/drawingml/2006/main" cx="6619875" cy="2286000"/>
        </p:xfrm>
        <a:graphic xmlns:a="http://schemas.openxmlformats.org/drawingml/2006/main">
          <a:graphicData uri="http://schemas.openxmlformats.org/drawingml/2006/table">
            <a:tbl>
              <a:tblPr/>
              <a:tblGrid>
                <a:gridCol w="2714625"/>
                <a:gridCol w="3905250"/>
              </a:tblGrid>
              <a:tr h="571500">
                <a:tc>
                  <a:txBody>
                    <a:bodyPr lIns="171450" tIns="123825" rIns="171450" bIns="123825"/>
                    <a:lstStyle/>
                    <a:p>
                      <a:r>
                        <a:rPr sz="1200" b="1">
                          <a:solidFill>
                            <a:srgbClr val="FFFFFF"/>
                          </a:solidFill>
                          <a:latin typeface="Avenir Next"/>
                          <a:ea typeface="Avenir Next"/>
                          <a:cs typeface="Avenir Next"/>
                        </a:rPr>
                        <a:t>Check</a:t>
                      </a:r>
                    </a:p>
                  </a:txBody>
                  <a:tcPr marL="91440" marR="91440" marT="45720" marB="45720" anchor="ctr">
                    <a:solidFill>
                      <a:srgbClr val="173F36"/>
                    </a:solidFill>
                  </a:tcPr>
                </a:tc>
                <a:tc>
                  <a:txBody>
                    <a:bodyPr lIns="171450" tIns="123825" rIns="171450" bIns="123825"/>
                    <a:lstStyle/>
                    <a:p>
                      <a:r>
                        <a:rPr sz="1200" b="1">
                          <a:solidFill>
                            <a:srgbClr val="FFFFFF"/>
                          </a:solidFill>
                          <a:latin typeface="Avenir Next"/>
                          <a:ea typeface="Avenir Next"/>
                          <a:cs typeface="Avenir Next"/>
                        </a:rPr>
                        <a:t>Proposed acceptance target</a:t>
                      </a:r>
                    </a:p>
                  </a:txBody>
                  <a:tcPr marL="91440" marR="91440" marT="45720" marB="45720" anchor="ctr">
                    <a:solidFill>
                      <a:srgbClr val="173F36"/>
                    </a:solidFill>
                  </a:tcPr>
                </a:tc>
              </a:tr>
              <a:tr h="571500">
                <a:tc>
                  <a:txBody>
                    <a:bodyPr lIns="171450" tIns="123825" rIns="171450" bIns="123825"/>
                    <a:lstStyle/>
                    <a:p>
                      <a:r>
                        <a:rPr sz="1575" b="0">
                          <a:solidFill>
                            <a:srgbClr val="173F36"/>
                          </a:solidFill>
                          <a:latin typeface="Avenir Next"/>
                          <a:ea typeface="Avenir Next"/>
                          <a:cs typeface="Avenir Next"/>
                        </a:rPr>
                        <a:t>Evidence precision</a:t>
                      </a:r>
                    </a:p>
                  </a:txBody>
                  <a:tcPr marL="91440" marR="91440" marT="45720" marB="45720" anchor="ctr">
                    <a:solidFill>
                      <a:srgbClr val="F7F5EF"/>
                    </a:solidFill>
                  </a:tcPr>
                </a:tc>
                <a:tc>
                  <a:txBody>
                    <a:bodyPr lIns="171450" tIns="123825" rIns="171450" bIns="123825"/>
                    <a:lstStyle/>
                    <a:p>
                      <a:r>
                        <a:rPr sz="1575" b="0">
                          <a:solidFill>
                            <a:srgbClr val="173F36"/>
                          </a:solidFill>
                          <a:latin typeface="Avenir Next"/>
                          <a:ea typeface="Avenir Next"/>
                          <a:cs typeface="Avenir Next"/>
                        </a:rPr>
                        <a:t>≥95% of cited claims supported</a:t>
                      </a:r>
                    </a:p>
                  </a:txBody>
                  <a:tcPr marL="91440" marR="91440" marT="45720" marB="45720" anchor="ctr">
                    <a:solidFill>
                      <a:srgbClr val="F7F5EF"/>
                    </a:solidFill>
                  </a:tcPr>
                </a:tc>
              </a:tr>
              <a:tr h="571500">
                <a:tc>
                  <a:txBody>
                    <a:bodyPr lIns="171450" tIns="123825" rIns="171450" bIns="123825"/>
                    <a:lstStyle/>
                    <a:p>
                      <a:r>
                        <a:rPr sz="1575" b="0">
                          <a:solidFill>
                            <a:srgbClr val="173F36"/>
                          </a:solidFill>
                          <a:latin typeface="Avenir Next"/>
                          <a:ea typeface="Avenir Next"/>
                          <a:cs typeface="Avenir Next"/>
                        </a:rPr>
                        <a:t>Expert agreement</a:t>
                      </a:r>
                    </a:p>
                  </a:txBody>
                  <a:tcPr marL="91440" marR="91440" marT="45720" marB="45720" anchor="ctr">
                    <a:solidFill>
                      <a:srgbClr val="F7F5EF"/>
                    </a:solidFill>
                  </a:tcPr>
                </a:tc>
                <a:tc>
                  <a:txBody>
                    <a:bodyPr lIns="171450" tIns="123825" rIns="171450" bIns="123825"/>
                    <a:lstStyle/>
                    <a:p>
                      <a:r>
                        <a:rPr sz="1575" b="0">
                          <a:solidFill>
                            <a:srgbClr val="173F36"/>
                          </a:solidFill>
                          <a:latin typeface="Avenir Next"/>
                          <a:ea typeface="Avenir Next"/>
                          <a:cs typeface="Avenir Next"/>
                        </a:rPr>
                        <a:t>≥80% agreement on top coaching priority</a:t>
                      </a:r>
                    </a:p>
                  </a:txBody>
                  <a:tcPr marL="91440" marR="91440" marT="45720" marB="45720" anchor="ctr">
                    <a:solidFill>
                      <a:srgbClr val="F7F5EF"/>
                    </a:solidFill>
                  </a:tcPr>
                </a:tc>
              </a:tr>
              <a:tr h="571500">
                <a:tc>
                  <a:txBody>
                    <a:bodyPr lIns="171450" tIns="123825" rIns="171450" bIns="123825"/>
                    <a:lstStyle/>
                    <a:p>
                      <a:r>
                        <a:rPr sz="1575" b="0">
                          <a:solidFill>
                            <a:srgbClr val="173F36"/>
                          </a:solidFill>
                          <a:latin typeface="Avenir Next"/>
                          <a:ea typeface="Avenir Next"/>
                          <a:cs typeface="Avenir Next"/>
                        </a:rPr>
                        <a:t>Mentor usability</a:t>
                      </a:r>
                    </a:p>
                  </a:txBody>
                  <a:tcPr marL="91440" marR="91440" marT="45720" marB="45720" anchor="ctr">
                    <a:solidFill>
                      <a:srgbClr val="F7F5EF"/>
                    </a:solidFill>
                  </a:tcPr>
                </a:tc>
                <a:tc>
                  <a:txBody>
                    <a:bodyPr lIns="171450" tIns="123825" rIns="171450" bIns="123825"/>
                    <a:lstStyle/>
                    <a:p>
                      <a:r>
                        <a:rPr sz="1575" b="0">
                          <a:solidFill>
                            <a:srgbClr val="173F36"/>
                          </a:solidFill>
                          <a:latin typeface="Avenir Next"/>
                          <a:ea typeface="Avenir Next"/>
                          <a:cs typeface="Avenir Next"/>
                        </a:rPr>
                        <a:t>Median reviewed plan in ≤3 minutes</a:t>
                      </a:r>
                    </a:p>
                  </a:txBody>
                  <a:tcPr marL="91440" marR="91440" marT="45720" marB="45720" anchor="ctr">
                    <a:solidFill>
                      <a:srgbClr val="F7F5EF"/>
                    </a:solidFill>
                  </a:tcPr>
                </a:tc>
              </a:tr>
            </a:tbl>
          </a:graphicData>
        </a:graphic>
      </p:graphicFrame>
      <p:sp>
        <p:nvSpPr>
          <p:cNvPr id="8" name="text-93">
            <a:extLst xmlns:a="http://schemas.openxmlformats.org/drawingml/2006/main">
              <a:ext uri="{FF2B5EF4-FFF2-40B4-BE49-F238E27FC236}">
                <a16:creationId xmlns:a16="http://schemas.microsoft.com/office/drawing/2014/main" id="{DCDC860F-E089-4938-90A3-BBB7D09769F1}"/>
              </a:ext>
            </a:extLst>
          </p:cNvPr>
          <p:cNvSpPr>
            <a:spLocks xmlns:a="http://schemas.openxmlformats.org/drawingml/2006/main" noGrp="1"/>
          </p:cNvSpPr>
          <p:nvPr/>
        </p:nvSpPr>
        <p:spPr>
          <a:xfrm xmlns:a="http://schemas.openxmlformats.org/drawingml/2006/main">
            <a:off x="609600" y="5286375"/>
            <a:ext cx="6715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69776B"/>
                </a:solidFill>
                <a:latin typeface="Avenir Next"/>
                <a:ea typeface="Avenir Next"/>
                <a:cs typeface="Avenir Next"/>
              </a:defRPr>
            </a:pPr>
            <a:r>
              <a:rPr sz="1650" b="0">
                <a:solidFill>
                  <a:srgbClr val="69776B"/>
                </a:solidFill>
                <a:latin typeface="Avenir Next"/>
                <a:ea typeface="Avenir Next"/>
                <a:cs typeface="Avenir Next"/>
              </a:rPr>
              <a:t>40 synthetic cases, reviewed by FLN experts.</a:t>
            </a:r>
          </a:p>
          <a:p xmlns:a="http://schemas.openxmlformats.org/drawingml/2006/main">
            <a:pPr algn="l">
              <a:defRPr sz="1650" b="0">
                <a:solidFill>
                  <a:srgbClr val="69776B"/>
                </a:solidFill>
                <a:latin typeface="Avenir Next"/>
                <a:ea typeface="Avenir Next"/>
                <a:cs typeface="Avenir Next"/>
              </a:defRPr>
            </a:pPr>
            <a:r>
              <a:rPr sz="1650" b="0">
                <a:solidFill>
                  <a:srgbClr val="69776B"/>
                </a:solidFill>
                <a:latin typeface="Avenir Next"/>
                <a:ea typeface="Avenir Next"/>
                <a:cs typeface="Avenir Next"/>
              </a:rPr>
              <a:t>Then 5 consenting mentors across 10 paired visits.</a:t>
            </a:r>
          </a:p>
          <a:p xmlns:a="http://schemas.openxmlformats.org/drawingml/2006/main">
            <a:pPr algn="l">
              <a:defRPr sz="1650" b="0">
                <a:solidFill>
                  <a:srgbClr val="69776B"/>
                </a:solidFill>
                <a:latin typeface="Avenir Next"/>
                <a:ea typeface="Avenir Next"/>
                <a:cs typeface="Avenir Next"/>
              </a:defRPr>
            </a:pPr>
            <a:r>
              <a:rPr sz="1650" b="0">
                <a:solidFill>
                  <a:srgbClr val="69776B"/>
                </a:solidFill>
                <a:latin typeface="Avenir Next"/>
                <a:ea typeface="Avenir Next"/>
                <a:cs typeface="Avenir Next"/>
              </a:rPr>
              <a:t>Measure practice adoption separately from learning gains.</a:t>
            </a:r>
          </a:p>
        </p:txBody>
      </p:sp>
      <p:sp>
        <p:nvSpPr>
          <p:cNvPr id="9" name="text-94">
            <a:extLst xmlns:a="http://schemas.openxmlformats.org/drawingml/2006/main">
              <a:ext uri="{FF2B5EF4-FFF2-40B4-BE49-F238E27FC236}">
                <a16:creationId xmlns:a16="http://schemas.microsoft.com/office/drawing/2014/main" id="{BBB1C10F-A79C-4F0D-858E-4860E8885FB8}"/>
              </a:ext>
            </a:extLst>
          </p:cNvPr>
          <p:cNvSpPr>
            <a:spLocks xmlns:a="http://schemas.openxmlformats.org/drawingml/2006/main" noGrp="1"/>
          </p:cNvSpPr>
          <p:nvPr/>
        </p:nvSpPr>
        <p:spPr>
          <a:xfrm xmlns:a="http://schemas.openxmlformats.org/drawingml/2006/main">
            <a:off x="7858125" y="2047875"/>
            <a:ext cx="3714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75" b="1">
                <a:solidFill>
                  <a:srgbClr val="BE653F"/>
                </a:solidFill>
                <a:latin typeface="Avenir Next"/>
                <a:ea typeface="Avenir Next"/>
                <a:cs typeface="Avenir Next"/>
              </a:defRPr>
            </a:pPr>
            <a:r>
              <a:rPr sz="975" b="1">
                <a:solidFill>
                  <a:srgbClr val="BE653F"/>
                </a:solidFill>
                <a:latin typeface="Avenir Next"/>
                <a:ea typeface="Avenir Next"/>
                <a:cs typeface="Avenir Next"/>
              </a:rPr>
              <a:t>BUILD MILESTONES</a:t>
            </a:r>
          </a:p>
        </p:txBody>
      </p:sp>
      <p:sp>
        <p:nvSpPr>
          <p:cNvPr id="10" name="text-95">
            <a:extLst xmlns:a="http://schemas.openxmlformats.org/drawingml/2006/main">
              <a:ext uri="{FF2B5EF4-FFF2-40B4-BE49-F238E27FC236}">
                <a16:creationId xmlns:a16="http://schemas.microsoft.com/office/drawing/2014/main" id="{73DC615A-C53A-46AA-85AD-21D13CAE65BB}"/>
              </a:ext>
            </a:extLst>
          </p:cNvPr>
          <p:cNvSpPr>
            <a:spLocks xmlns:a="http://schemas.openxmlformats.org/drawingml/2006/main" noGrp="1"/>
          </p:cNvSpPr>
          <p:nvPr/>
        </p:nvSpPr>
        <p:spPr>
          <a:xfrm xmlns:a="http://schemas.openxmlformats.org/drawingml/2006/main">
            <a:off x="7858125" y="2457450"/>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73F36"/>
                </a:solidFill>
                <a:latin typeface="Avenir Next"/>
                <a:ea typeface="Avenir Next"/>
                <a:cs typeface="Avenir Next"/>
              </a:defRPr>
            </a:pPr>
            <a:r>
              <a:rPr sz="1875" b="1">
                <a:solidFill>
                  <a:srgbClr val="173F36"/>
                </a:solidFill>
                <a:latin typeface="Avenir Next"/>
                <a:ea typeface="Avenir Next"/>
                <a:cs typeface="Avenir Next"/>
              </a:rPr>
              <a:t>By 27 September</a:t>
            </a:r>
          </a:p>
        </p:txBody>
      </p:sp>
      <p:sp>
        <p:nvSpPr>
          <p:cNvPr id="11" name="text-96">
            <a:extLst xmlns:a="http://schemas.openxmlformats.org/drawingml/2006/main">
              <a:ext uri="{FF2B5EF4-FFF2-40B4-BE49-F238E27FC236}">
                <a16:creationId xmlns:a16="http://schemas.microsoft.com/office/drawing/2014/main" id="{A5019D4D-DE50-4A64-B5B2-E01B0AC9EE8E}"/>
              </a:ext>
            </a:extLst>
          </p:cNvPr>
          <p:cNvSpPr>
            <a:spLocks xmlns:a="http://schemas.openxmlformats.org/drawingml/2006/main" noGrp="1"/>
          </p:cNvSpPr>
          <p:nvPr/>
        </p:nvSpPr>
        <p:spPr>
          <a:xfrm xmlns:a="http://schemas.openxmlformats.org/drawingml/2006/main">
            <a:off x="7858125" y="2886075"/>
            <a:ext cx="36004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69776B"/>
                </a:solidFill>
                <a:latin typeface="Avenir Next"/>
                <a:ea typeface="Avenir Next"/>
                <a:cs typeface="Avenir Next"/>
              </a:defRPr>
            </a:pPr>
            <a:r>
              <a:rPr sz="1725" b="0">
                <a:solidFill>
                  <a:srgbClr val="69776B"/>
                </a:solidFill>
                <a:latin typeface="Avenir Next"/>
                <a:ea typeface="Avenir Next"/>
                <a:cs typeface="Avenir Next"/>
              </a:rPr>
              <a:t>Submit the proposal and demonstrate the core interaction.</a:t>
            </a:r>
          </a:p>
        </p:txBody>
      </p:sp>
      <p:sp>
        <p:nvSpPr>
          <p:cNvPr id="12" name="text-97">
            <a:extLst xmlns:a="http://schemas.openxmlformats.org/drawingml/2006/main">
              <a:ext uri="{FF2B5EF4-FFF2-40B4-BE49-F238E27FC236}">
                <a16:creationId xmlns:a16="http://schemas.microsoft.com/office/drawing/2014/main" id="{F55381C7-A3DA-4CD8-AC3C-BB49EAD6AFD5}"/>
              </a:ext>
            </a:extLst>
          </p:cNvPr>
          <p:cNvSpPr>
            <a:spLocks xmlns:a="http://schemas.openxmlformats.org/drawingml/2006/main" noGrp="1"/>
          </p:cNvSpPr>
          <p:nvPr/>
        </p:nvSpPr>
        <p:spPr>
          <a:xfrm xmlns:a="http://schemas.openxmlformats.org/drawingml/2006/main">
            <a:off x="7858125" y="3943350"/>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73F36"/>
                </a:solidFill>
                <a:latin typeface="Avenir Next"/>
                <a:ea typeface="Avenir Next"/>
                <a:cs typeface="Avenir Next"/>
              </a:defRPr>
            </a:pPr>
            <a:r>
              <a:rPr sz="1875" b="1">
                <a:solidFill>
                  <a:srgbClr val="173F36"/>
                </a:solidFill>
                <a:latin typeface="Avenir Next"/>
                <a:ea typeface="Avenir Next"/>
                <a:cs typeface="Avenir Next"/>
              </a:rPr>
              <a:t>If shortlisted: by 1 November</a:t>
            </a:r>
          </a:p>
        </p:txBody>
      </p:sp>
      <p:sp>
        <p:nvSpPr>
          <p:cNvPr id="13" name="text-98">
            <a:extLst xmlns:a="http://schemas.openxmlformats.org/drawingml/2006/main">
              <a:ext uri="{FF2B5EF4-FFF2-40B4-BE49-F238E27FC236}">
                <a16:creationId xmlns:a16="http://schemas.microsoft.com/office/drawing/2014/main" id="{6325E898-F7A1-4F55-B8FF-E8A01ACAAFFD}"/>
              </a:ext>
            </a:extLst>
          </p:cNvPr>
          <p:cNvSpPr>
            <a:spLocks xmlns:a="http://schemas.openxmlformats.org/drawingml/2006/main" noGrp="1"/>
          </p:cNvSpPr>
          <p:nvPr/>
        </p:nvSpPr>
        <p:spPr>
          <a:xfrm xmlns:a="http://schemas.openxmlformats.org/drawingml/2006/main">
            <a:off x="7858125" y="4695825"/>
            <a:ext cx="357187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69776B"/>
                </a:solidFill>
                <a:latin typeface="Avenir Next"/>
                <a:ea typeface="Avenir Next"/>
                <a:cs typeface="Avenir Next"/>
              </a:defRPr>
            </a:pPr>
            <a:r>
              <a:rPr sz="1725" b="0">
                <a:solidFill>
                  <a:srgbClr val="69776B"/>
                </a:solidFill>
                <a:latin typeface="Avenir Next"/>
                <a:ea typeface="Avenir Next"/>
                <a:cs typeface="Avenir Next"/>
              </a:rPr>
              <a:t>Validate live AI and source retrieval. Test Hindi use and device constraints. Publish the testable build and demo.</a:t>
            </a:r>
          </a:p>
        </p:txBody>
      </p:sp>
    </p:spTree>
    <p:extLst>
      <p:ext uri="{BB962C8B-B14F-4D97-AF65-F5344CB8AC3E}">
        <p14:creationId xmlns:p14="http://schemas.microsoft.com/office/powerpoint/2010/main" val="13826726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2026-09-19T17:43:12.4600000Z</dcterms:created>
  <dcterms:modified xsi:type="dcterms:W3CDTF">2026-09-19T17:43:12.4600000Z</dcterms:modified>
</coreProperties>
</file>